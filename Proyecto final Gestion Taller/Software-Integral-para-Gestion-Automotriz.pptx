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42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4022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txBody>
          <a:bodyPr/>
          <a:lstStyle/>
          <a:p>
            <a:endParaRPr lang="es-ES" dirty="0"/>
          </a:p>
        </p:txBody>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sp>
        <p:nvSpPr>
          <p:cNvPr id="5" name="Text 2"/>
          <p:cNvSpPr/>
          <p:nvPr/>
        </p:nvSpPr>
        <p:spPr>
          <a:xfrm>
            <a:off x="833199" y="1475184"/>
            <a:ext cx="7477601" cy="2874645"/>
          </a:xfrm>
          <a:prstGeom prst="rect">
            <a:avLst/>
          </a:prstGeom>
          <a:noFill/>
          <a:ln/>
        </p:spPr>
        <p:txBody>
          <a:bodyPr wrap="square" rtlCol="0" anchor="t"/>
          <a:lstStyle/>
          <a:p>
            <a:pPr marL="0" indent="0">
              <a:lnSpc>
                <a:spcPts val="7545"/>
              </a:lnSpc>
              <a:buNone/>
            </a:pPr>
            <a:r>
              <a:rPr lang="en-US" sz="6036" b="1" kern="0" spc="-181" dirty="0">
                <a:solidFill>
                  <a:srgbClr val="000000"/>
                </a:solidFill>
                <a:latin typeface="Inter" pitchFamily="34" charset="0"/>
                <a:ea typeface="Inter" pitchFamily="34" charset="-122"/>
                <a:cs typeface="Inter" pitchFamily="34" charset="-120"/>
              </a:rPr>
              <a:t>Software Integral para Gestión Automotriz</a:t>
            </a:r>
            <a:endParaRPr lang="en-US" sz="6036" dirty="0"/>
          </a:p>
        </p:txBody>
      </p:sp>
      <p:sp>
        <p:nvSpPr>
          <p:cNvPr id="6" name="Text 3"/>
          <p:cNvSpPr/>
          <p:nvPr/>
        </p:nvSpPr>
        <p:spPr>
          <a:xfrm>
            <a:off x="833199" y="4683085"/>
            <a:ext cx="7477601" cy="1421606"/>
          </a:xfrm>
          <a:prstGeom prst="rect">
            <a:avLst/>
          </a:prstGeom>
          <a:noFill/>
          <a:ln/>
        </p:spPr>
        <p:txBody>
          <a:bodyPr wrap="square" rtlCol="0" anchor="t"/>
          <a:lstStyle/>
          <a:p>
            <a:pPr marL="0" indent="0">
              <a:lnSpc>
                <a:spcPts val="2799"/>
              </a:lnSpc>
              <a:buNone/>
            </a:pPr>
            <a:r>
              <a:rPr lang="en-US" sz="1750" kern="0" spc="-35" dirty="0">
                <a:solidFill>
                  <a:srgbClr val="272525"/>
                </a:solidFill>
                <a:latin typeface="Inter" pitchFamily="34" charset="0"/>
                <a:ea typeface="Inter" pitchFamily="34" charset="-122"/>
                <a:cs typeface="Inter" pitchFamily="34" charset="-120"/>
              </a:rPr>
              <a:t>El software integral desarrollado para la gestión de bases de datos de clientes, vehículos, órdenes de taller y facturación ha sido diseñado para mejorar la eficiencia operativa de los talleres automotrices, reducir costos, minimizar errores y proporcionar una experiencia superior a los clientes.</a:t>
            </a:r>
            <a:endParaRPr lang="en-US" sz="1750" dirty="0"/>
          </a:p>
        </p:txBody>
      </p:sp>
      <p:sp>
        <p:nvSpPr>
          <p:cNvPr id="7" name="Shape 4"/>
          <p:cNvSpPr/>
          <p:nvPr/>
        </p:nvSpPr>
        <p:spPr>
          <a:xfrm>
            <a:off x="833199" y="6354604"/>
            <a:ext cx="355402" cy="355402"/>
          </a:xfrm>
          <a:prstGeom prst="roundRect">
            <a:avLst>
              <a:gd name="adj" fmla="val 25726039"/>
            </a:avLst>
          </a:prstGeom>
          <a:noFill/>
          <a:ln w="7620">
            <a:solidFill>
              <a:srgbClr val="FFFFFF"/>
            </a:solidFill>
            <a:prstDash val="solid"/>
          </a:ln>
        </p:spPr>
      </p:sp>
      <p:sp>
        <p:nvSpPr>
          <p:cNvPr id="9" name="Text 5"/>
          <p:cNvSpPr/>
          <p:nvPr/>
        </p:nvSpPr>
        <p:spPr>
          <a:xfrm>
            <a:off x="1299686" y="6360081"/>
            <a:ext cx="2604968" cy="388858"/>
          </a:xfrm>
          <a:prstGeom prst="rect">
            <a:avLst/>
          </a:prstGeom>
          <a:noFill/>
          <a:ln/>
        </p:spPr>
        <p:txBody>
          <a:bodyPr wrap="none" rtlCol="0" anchor="t"/>
          <a:lstStyle/>
          <a:p>
            <a:pPr marL="0" indent="0" algn="l">
              <a:lnSpc>
                <a:spcPts val="3062"/>
              </a:lnSpc>
              <a:buNone/>
            </a:pPr>
            <a:endParaRPr lang="en-US" sz="218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
        <p:nvSpPr>
          <p:cNvPr id="4" name="Text 2"/>
          <p:cNvSpPr/>
          <p:nvPr/>
        </p:nvSpPr>
        <p:spPr>
          <a:xfrm>
            <a:off x="2037993" y="1051917"/>
            <a:ext cx="5554980" cy="694373"/>
          </a:xfrm>
          <a:prstGeom prst="rect">
            <a:avLst/>
          </a:prstGeom>
          <a:noFill/>
          <a:ln/>
        </p:spPr>
        <p:txBody>
          <a:bodyPr wrap="none" rtlCol="0" anchor="t"/>
          <a:lstStyle/>
          <a:p>
            <a:pPr marL="0" indent="0">
              <a:lnSpc>
                <a:spcPts val="5468"/>
              </a:lnSpc>
              <a:buNone/>
            </a:pPr>
            <a:r>
              <a:rPr lang="en-US" sz="4374" b="1" kern="0" spc="-131" dirty="0">
                <a:solidFill>
                  <a:srgbClr val="000000"/>
                </a:solidFill>
                <a:latin typeface="Inter" pitchFamily="34" charset="0"/>
                <a:ea typeface="Inter" pitchFamily="34" charset="-122"/>
                <a:cs typeface="Inter" pitchFamily="34" charset="-120"/>
              </a:rPr>
              <a:t>Objetivo del Proyecto</a:t>
            </a:r>
            <a:endParaRPr lang="en-US" sz="4374" dirty="0"/>
          </a:p>
        </p:txBody>
      </p:sp>
      <p:sp>
        <p:nvSpPr>
          <p:cNvPr id="5" name="Shape 3"/>
          <p:cNvSpPr/>
          <p:nvPr/>
        </p:nvSpPr>
        <p:spPr>
          <a:xfrm>
            <a:off x="2037993" y="2364224"/>
            <a:ext cx="499943" cy="499943"/>
          </a:xfrm>
          <a:prstGeom prst="roundRect">
            <a:avLst>
              <a:gd name="adj" fmla="val 20000"/>
            </a:avLst>
          </a:prstGeom>
          <a:solidFill>
            <a:srgbClr val="DADBF1"/>
          </a:solidFill>
          <a:ln w="7620">
            <a:solidFill>
              <a:srgbClr val="C0C1D7"/>
            </a:solidFill>
            <a:prstDash val="solid"/>
          </a:ln>
        </p:spPr>
      </p:sp>
      <p:sp>
        <p:nvSpPr>
          <p:cNvPr id="6" name="Text 4"/>
          <p:cNvSpPr/>
          <p:nvPr/>
        </p:nvSpPr>
        <p:spPr>
          <a:xfrm>
            <a:off x="2211348" y="2405896"/>
            <a:ext cx="153114" cy="416481"/>
          </a:xfrm>
          <a:prstGeom prst="rect">
            <a:avLst/>
          </a:prstGeom>
          <a:noFill/>
          <a:ln/>
        </p:spPr>
        <p:txBody>
          <a:bodyPr wrap="none" rtlCol="0" anchor="t"/>
          <a:lstStyle/>
          <a:p>
            <a:pPr marL="0" indent="0" algn="ctr">
              <a:lnSpc>
                <a:spcPts val="3281"/>
              </a:lnSpc>
              <a:buNone/>
            </a:pPr>
            <a:r>
              <a:rPr lang="en-US" sz="2624" b="1" kern="0" spc="-79" dirty="0">
                <a:solidFill>
                  <a:srgbClr val="272525"/>
                </a:solidFill>
                <a:latin typeface="Inter" pitchFamily="34" charset="0"/>
                <a:ea typeface="Inter" pitchFamily="34" charset="-122"/>
                <a:cs typeface="Inter" pitchFamily="34" charset="-120"/>
              </a:rPr>
              <a:t>1</a:t>
            </a:r>
            <a:endParaRPr lang="en-US" sz="2624" dirty="0"/>
          </a:p>
        </p:txBody>
      </p:sp>
      <p:sp>
        <p:nvSpPr>
          <p:cNvPr id="7" name="Text 5"/>
          <p:cNvSpPr/>
          <p:nvPr/>
        </p:nvSpPr>
        <p:spPr>
          <a:xfrm>
            <a:off x="2760107" y="2440543"/>
            <a:ext cx="2647950" cy="694373"/>
          </a:xfrm>
          <a:prstGeom prst="rect">
            <a:avLst/>
          </a:prstGeom>
          <a:noFill/>
          <a:ln/>
        </p:spPr>
        <p:txBody>
          <a:bodyPr wrap="square" rtlCol="0" anchor="t"/>
          <a:lstStyle/>
          <a:p>
            <a:pPr marL="0" indent="0">
              <a:lnSpc>
                <a:spcPts val="2734"/>
              </a:lnSpc>
              <a:buNone/>
            </a:pPr>
            <a:r>
              <a:rPr lang="en-US" sz="2187" b="1" kern="0" spc="-66" dirty="0">
                <a:solidFill>
                  <a:srgbClr val="272525"/>
                </a:solidFill>
                <a:latin typeface="Inter" pitchFamily="34" charset="0"/>
                <a:ea typeface="Inter" pitchFamily="34" charset="-122"/>
                <a:cs typeface="Inter" pitchFamily="34" charset="-120"/>
              </a:rPr>
              <a:t>Crear un sistema centralizado</a:t>
            </a:r>
            <a:endParaRPr lang="en-US" sz="2187" dirty="0"/>
          </a:p>
        </p:txBody>
      </p:sp>
      <p:sp>
        <p:nvSpPr>
          <p:cNvPr id="8" name="Text 6"/>
          <p:cNvSpPr/>
          <p:nvPr/>
        </p:nvSpPr>
        <p:spPr>
          <a:xfrm>
            <a:off x="2760107" y="3268147"/>
            <a:ext cx="2647950" cy="3909417"/>
          </a:xfrm>
          <a:prstGeom prst="rect">
            <a:avLst/>
          </a:prstGeom>
          <a:noFill/>
          <a:ln/>
        </p:spPr>
        <p:txBody>
          <a:bodyPr wrap="square" rtlCol="0" anchor="t"/>
          <a:lstStyle/>
          <a:p>
            <a:pPr marL="0" indent="0">
              <a:lnSpc>
                <a:spcPts val="2799"/>
              </a:lnSpc>
              <a:buNone/>
            </a:pPr>
            <a:r>
              <a:rPr lang="en-US" sz="1750" kern="0" spc="-35" dirty="0">
                <a:solidFill>
                  <a:srgbClr val="272525"/>
                </a:solidFill>
                <a:latin typeface="Inter" pitchFamily="34" charset="0"/>
                <a:ea typeface="Inter" pitchFamily="34" charset="-122"/>
                <a:cs typeface="Inter" pitchFamily="34" charset="-120"/>
              </a:rPr>
              <a:t>El objetivo era crear un sistema centralizado que automatizará las tareas críticas del taller automotrices Quirino Vallejero, brindando una solución completa para la gestión eficiente de clientes, vehículos y órdenes de trabajo, así como la facturación.</a:t>
            </a:r>
            <a:endParaRPr lang="en-US" sz="1750" dirty="0"/>
          </a:p>
        </p:txBody>
      </p:sp>
      <p:sp>
        <p:nvSpPr>
          <p:cNvPr id="9" name="Shape 7"/>
          <p:cNvSpPr/>
          <p:nvPr/>
        </p:nvSpPr>
        <p:spPr>
          <a:xfrm>
            <a:off x="5630228" y="2364224"/>
            <a:ext cx="499943" cy="499943"/>
          </a:xfrm>
          <a:prstGeom prst="roundRect">
            <a:avLst>
              <a:gd name="adj" fmla="val 20000"/>
            </a:avLst>
          </a:prstGeom>
          <a:solidFill>
            <a:srgbClr val="DADBF1"/>
          </a:solidFill>
          <a:ln w="7620">
            <a:solidFill>
              <a:srgbClr val="C0C1D7"/>
            </a:solidFill>
            <a:prstDash val="solid"/>
          </a:ln>
        </p:spPr>
      </p:sp>
      <p:sp>
        <p:nvSpPr>
          <p:cNvPr id="10" name="Text 8"/>
          <p:cNvSpPr/>
          <p:nvPr/>
        </p:nvSpPr>
        <p:spPr>
          <a:xfrm>
            <a:off x="5780127" y="2405896"/>
            <a:ext cx="200025" cy="416481"/>
          </a:xfrm>
          <a:prstGeom prst="rect">
            <a:avLst/>
          </a:prstGeom>
          <a:noFill/>
          <a:ln/>
        </p:spPr>
        <p:txBody>
          <a:bodyPr wrap="none" rtlCol="0" anchor="t"/>
          <a:lstStyle/>
          <a:p>
            <a:pPr marL="0" indent="0" algn="ctr">
              <a:lnSpc>
                <a:spcPts val="3281"/>
              </a:lnSpc>
              <a:buNone/>
            </a:pPr>
            <a:r>
              <a:rPr lang="en-US" sz="2624" b="1" kern="0" spc="-79" dirty="0">
                <a:solidFill>
                  <a:srgbClr val="272525"/>
                </a:solidFill>
                <a:latin typeface="Inter" pitchFamily="34" charset="0"/>
                <a:ea typeface="Inter" pitchFamily="34" charset="-122"/>
                <a:cs typeface="Inter" pitchFamily="34" charset="-120"/>
              </a:rPr>
              <a:t>2</a:t>
            </a:r>
            <a:endParaRPr lang="en-US" sz="2624" dirty="0"/>
          </a:p>
        </p:txBody>
      </p:sp>
      <p:sp>
        <p:nvSpPr>
          <p:cNvPr id="11" name="Text 9"/>
          <p:cNvSpPr/>
          <p:nvPr/>
        </p:nvSpPr>
        <p:spPr>
          <a:xfrm>
            <a:off x="6352342" y="2440543"/>
            <a:ext cx="2647950" cy="694373"/>
          </a:xfrm>
          <a:prstGeom prst="rect">
            <a:avLst/>
          </a:prstGeom>
          <a:noFill/>
          <a:ln/>
        </p:spPr>
        <p:txBody>
          <a:bodyPr wrap="square" rtlCol="0" anchor="t"/>
          <a:lstStyle/>
          <a:p>
            <a:pPr marL="0" indent="0">
              <a:lnSpc>
                <a:spcPts val="2734"/>
              </a:lnSpc>
              <a:buNone/>
            </a:pPr>
            <a:r>
              <a:rPr lang="en-US" sz="2187" b="1" kern="0" spc="-66" dirty="0">
                <a:solidFill>
                  <a:srgbClr val="272525"/>
                </a:solidFill>
                <a:latin typeface="Inter" pitchFamily="34" charset="0"/>
                <a:ea typeface="Inter" pitchFamily="34" charset="-122"/>
                <a:cs typeface="Inter" pitchFamily="34" charset="-120"/>
              </a:rPr>
              <a:t>Mejorar la eficiencia operativa</a:t>
            </a:r>
            <a:endParaRPr lang="en-US" sz="2187" dirty="0"/>
          </a:p>
        </p:txBody>
      </p:sp>
      <p:sp>
        <p:nvSpPr>
          <p:cNvPr id="12" name="Text 10"/>
          <p:cNvSpPr/>
          <p:nvPr/>
        </p:nvSpPr>
        <p:spPr>
          <a:xfrm>
            <a:off x="6352342" y="3268147"/>
            <a:ext cx="2647950" cy="2487811"/>
          </a:xfrm>
          <a:prstGeom prst="rect">
            <a:avLst/>
          </a:prstGeom>
          <a:noFill/>
          <a:ln/>
        </p:spPr>
        <p:txBody>
          <a:bodyPr wrap="square" rtlCol="0" anchor="t"/>
          <a:lstStyle/>
          <a:p>
            <a:pPr marL="0" indent="0">
              <a:lnSpc>
                <a:spcPts val="2799"/>
              </a:lnSpc>
              <a:buNone/>
            </a:pPr>
            <a:r>
              <a:rPr lang="en-US" sz="1750" kern="0" spc="-35" dirty="0">
                <a:solidFill>
                  <a:srgbClr val="272525"/>
                </a:solidFill>
                <a:latin typeface="Inter" pitchFamily="34" charset="0"/>
                <a:ea typeface="Inter" pitchFamily="34" charset="-122"/>
                <a:cs typeface="Inter" pitchFamily="34" charset="-120"/>
              </a:rPr>
              <a:t>El proyecto buscaba mejorar la eficiencia operativa, reducir costos y minimizar errores, proporcionando una experiencia superior a los clientes.</a:t>
            </a:r>
            <a:endParaRPr lang="en-US" sz="1750" dirty="0"/>
          </a:p>
        </p:txBody>
      </p:sp>
      <p:sp>
        <p:nvSpPr>
          <p:cNvPr id="13" name="Shape 11"/>
          <p:cNvSpPr/>
          <p:nvPr/>
        </p:nvSpPr>
        <p:spPr>
          <a:xfrm>
            <a:off x="9222462" y="2364224"/>
            <a:ext cx="499943" cy="499943"/>
          </a:xfrm>
          <a:prstGeom prst="roundRect">
            <a:avLst>
              <a:gd name="adj" fmla="val 20000"/>
            </a:avLst>
          </a:prstGeom>
          <a:solidFill>
            <a:srgbClr val="DADBF1"/>
          </a:solidFill>
          <a:ln w="7620">
            <a:solidFill>
              <a:srgbClr val="C0C1D7"/>
            </a:solidFill>
            <a:prstDash val="solid"/>
          </a:ln>
        </p:spPr>
      </p:sp>
      <p:sp>
        <p:nvSpPr>
          <p:cNvPr id="14" name="Text 12"/>
          <p:cNvSpPr/>
          <p:nvPr/>
        </p:nvSpPr>
        <p:spPr>
          <a:xfrm>
            <a:off x="9367480" y="2405896"/>
            <a:ext cx="209788" cy="416481"/>
          </a:xfrm>
          <a:prstGeom prst="rect">
            <a:avLst/>
          </a:prstGeom>
          <a:noFill/>
          <a:ln/>
        </p:spPr>
        <p:txBody>
          <a:bodyPr wrap="none" rtlCol="0" anchor="t"/>
          <a:lstStyle/>
          <a:p>
            <a:pPr marL="0" indent="0" algn="ctr">
              <a:lnSpc>
                <a:spcPts val="3281"/>
              </a:lnSpc>
              <a:buNone/>
            </a:pPr>
            <a:r>
              <a:rPr lang="en-US" sz="2624" b="1" kern="0" spc="-79" dirty="0">
                <a:solidFill>
                  <a:srgbClr val="272525"/>
                </a:solidFill>
                <a:latin typeface="Inter" pitchFamily="34" charset="0"/>
                <a:ea typeface="Inter" pitchFamily="34" charset="-122"/>
                <a:cs typeface="Inter" pitchFamily="34" charset="-120"/>
              </a:rPr>
              <a:t>3</a:t>
            </a:r>
            <a:endParaRPr lang="en-US" sz="2624" dirty="0"/>
          </a:p>
        </p:txBody>
      </p:sp>
      <p:sp>
        <p:nvSpPr>
          <p:cNvPr id="15" name="Text 13"/>
          <p:cNvSpPr/>
          <p:nvPr/>
        </p:nvSpPr>
        <p:spPr>
          <a:xfrm>
            <a:off x="9944576" y="2440543"/>
            <a:ext cx="2647950" cy="1041559"/>
          </a:xfrm>
          <a:prstGeom prst="rect">
            <a:avLst/>
          </a:prstGeom>
          <a:noFill/>
          <a:ln/>
        </p:spPr>
        <p:txBody>
          <a:bodyPr wrap="square" rtlCol="0" anchor="t"/>
          <a:lstStyle/>
          <a:p>
            <a:pPr marL="0" indent="0">
              <a:lnSpc>
                <a:spcPts val="2734"/>
              </a:lnSpc>
              <a:buNone/>
            </a:pPr>
            <a:r>
              <a:rPr lang="en-US" sz="2187" b="1" kern="0" spc="-66" dirty="0">
                <a:solidFill>
                  <a:srgbClr val="272525"/>
                </a:solidFill>
                <a:latin typeface="Inter" pitchFamily="34" charset="0"/>
                <a:ea typeface="Inter" pitchFamily="34" charset="-122"/>
                <a:cs typeface="Inter" pitchFamily="34" charset="-120"/>
              </a:rPr>
              <a:t>Satisfacer las necesidades del taller</a:t>
            </a:r>
            <a:endParaRPr lang="en-US" sz="2187" dirty="0"/>
          </a:p>
        </p:txBody>
      </p:sp>
      <p:sp>
        <p:nvSpPr>
          <p:cNvPr id="16" name="Text 14"/>
          <p:cNvSpPr/>
          <p:nvPr/>
        </p:nvSpPr>
        <p:spPr>
          <a:xfrm>
            <a:off x="9944576" y="3615333"/>
            <a:ext cx="2647950" cy="2487811"/>
          </a:xfrm>
          <a:prstGeom prst="rect">
            <a:avLst/>
          </a:prstGeom>
          <a:noFill/>
          <a:ln/>
        </p:spPr>
        <p:txBody>
          <a:bodyPr wrap="square" rtlCol="0" anchor="t"/>
          <a:lstStyle/>
          <a:p>
            <a:pPr marL="0" indent="0">
              <a:lnSpc>
                <a:spcPts val="2799"/>
              </a:lnSpc>
              <a:buNone/>
            </a:pPr>
            <a:r>
              <a:rPr lang="en-US" sz="1750" kern="0" spc="-35" dirty="0">
                <a:solidFill>
                  <a:srgbClr val="272525"/>
                </a:solidFill>
                <a:latin typeface="Inter" pitchFamily="34" charset="0"/>
                <a:ea typeface="Inter" pitchFamily="34" charset="-122"/>
                <a:cs typeface="Inter" pitchFamily="34" charset="-120"/>
              </a:rPr>
              <a:t>La solución desarrollada está diseñada específicamente para satisfacer las necesidades de gestión del taller automotriz Quirino Vallejero.</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
        <p:nvSpPr>
          <p:cNvPr id="4" name="Text 2"/>
          <p:cNvSpPr/>
          <p:nvPr/>
        </p:nvSpPr>
        <p:spPr>
          <a:xfrm>
            <a:off x="2037993" y="1510070"/>
            <a:ext cx="8826103" cy="694373"/>
          </a:xfrm>
          <a:prstGeom prst="rect">
            <a:avLst/>
          </a:prstGeom>
          <a:noFill/>
          <a:ln/>
        </p:spPr>
        <p:txBody>
          <a:bodyPr wrap="none" rtlCol="0" anchor="t"/>
          <a:lstStyle/>
          <a:p>
            <a:pPr marL="0" indent="0">
              <a:lnSpc>
                <a:spcPts val="5468"/>
              </a:lnSpc>
              <a:buNone/>
            </a:pPr>
            <a:r>
              <a:rPr lang="en-US" sz="4374" b="1" kern="0" spc="-131" dirty="0">
                <a:solidFill>
                  <a:srgbClr val="000000"/>
                </a:solidFill>
                <a:latin typeface="Inter" pitchFamily="34" charset="0"/>
                <a:ea typeface="Inter" pitchFamily="34" charset="-122"/>
                <a:cs typeface="Inter" pitchFamily="34" charset="-120"/>
              </a:rPr>
              <a:t>Características Clave del Software</a:t>
            </a:r>
            <a:endParaRPr lang="en-US" sz="4374" dirty="0"/>
          </a:p>
        </p:txBody>
      </p:sp>
      <p:sp>
        <p:nvSpPr>
          <p:cNvPr id="5" name="Text 3"/>
          <p:cNvSpPr/>
          <p:nvPr/>
        </p:nvSpPr>
        <p:spPr>
          <a:xfrm>
            <a:off x="2037993" y="2759869"/>
            <a:ext cx="3156347" cy="694373"/>
          </a:xfrm>
          <a:prstGeom prst="rect">
            <a:avLst/>
          </a:prstGeom>
          <a:noFill/>
          <a:ln/>
        </p:spPr>
        <p:txBody>
          <a:bodyPr wrap="square" rtlCol="0" anchor="t"/>
          <a:lstStyle/>
          <a:p>
            <a:pPr marL="0" indent="0">
              <a:lnSpc>
                <a:spcPts val="2734"/>
              </a:lnSpc>
              <a:buNone/>
            </a:pPr>
            <a:r>
              <a:rPr lang="en-US" sz="2187" b="1" kern="0" spc="-66" dirty="0">
                <a:solidFill>
                  <a:srgbClr val="000000"/>
                </a:solidFill>
                <a:latin typeface="Inter" pitchFamily="34" charset="0"/>
                <a:ea typeface="Inter" pitchFamily="34" charset="-122"/>
                <a:cs typeface="Inter" pitchFamily="34" charset="-120"/>
              </a:rPr>
              <a:t>Gestión de Base de Datos de Clientes</a:t>
            </a:r>
            <a:endParaRPr lang="en-US" sz="2187" dirty="0"/>
          </a:p>
        </p:txBody>
      </p:sp>
      <p:sp>
        <p:nvSpPr>
          <p:cNvPr id="6" name="Text 4"/>
          <p:cNvSpPr/>
          <p:nvPr/>
        </p:nvSpPr>
        <p:spPr>
          <a:xfrm>
            <a:off x="2037993" y="3676412"/>
            <a:ext cx="3156347" cy="2487811"/>
          </a:xfrm>
          <a:prstGeom prst="rect">
            <a:avLst/>
          </a:prstGeom>
          <a:noFill/>
          <a:ln/>
        </p:spPr>
        <p:txBody>
          <a:bodyPr wrap="square" rtlCol="0" anchor="t"/>
          <a:lstStyle/>
          <a:p>
            <a:pPr marL="0" indent="0">
              <a:lnSpc>
                <a:spcPts val="2799"/>
              </a:lnSpc>
              <a:buNone/>
            </a:pPr>
            <a:r>
              <a:rPr lang="en-US" sz="1750" kern="0" spc="-35" dirty="0">
                <a:solidFill>
                  <a:srgbClr val="272525"/>
                </a:solidFill>
                <a:latin typeface="Inter" pitchFamily="34" charset="0"/>
                <a:ea typeface="Inter" pitchFamily="34" charset="-122"/>
                <a:cs typeface="Inter" pitchFamily="34" charset="-120"/>
              </a:rPr>
              <a:t>Registro completo de clientes con datos personales y de contacto. Búsqueda avanzada por nombre, ID u otros parámetros. Capacidad para agregar, editar o eliminar información de los clientes.</a:t>
            </a:r>
            <a:endParaRPr lang="en-US" sz="1750" dirty="0"/>
          </a:p>
        </p:txBody>
      </p:sp>
      <p:sp>
        <p:nvSpPr>
          <p:cNvPr id="7" name="Text 5"/>
          <p:cNvSpPr/>
          <p:nvPr/>
        </p:nvSpPr>
        <p:spPr>
          <a:xfrm>
            <a:off x="5743932" y="2759869"/>
            <a:ext cx="2777490" cy="347186"/>
          </a:xfrm>
          <a:prstGeom prst="rect">
            <a:avLst/>
          </a:prstGeom>
          <a:noFill/>
          <a:ln/>
        </p:spPr>
        <p:txBody>
          <a:bodyPr wrap="none" rtlCol="0" anchor="t"/>
          <a:lstStyle/>
          <a:p>
            <a:pPr marL="0" indent="0">
              <a:lnSpc>
                <a:spcPts val="2734"/>
              </a:lnSpc>
              <a:buNone/>
            </a:pPr>
            <a:r>
              <a:rPr lang="en-US" sz="2187" b="1" kern="0" spc="-66" dirty="0">
                <a:solidFill>
                  <a:srgbClr val="000000"/>
                </a:solidFill>
                <a:latin typeface="Inter" pitchFamily="34" charset="0"/>
                <a:ea typeface="Inter" pitchFamily="34" charset="-122"/>
                <a:cs typeface="Inter" pitchFamily="34" charset="-120"/>
              </a:rPr>
              <a:t>Gestión de Vehículos</a:t>
            </a:r>
            <a:endParaRPr lang="en-US" sz="2187" dirty="0"/>
          </a:p>
        </p:txBody>
      </p:sp>
      <p:sp>
        <p:nvSpPr>
          <p:cNvPr id="8" name="Text 6"/>
          <p:cNvSpPr/>
          <p:nvPr/>
        </p:nvSpPr>
        <p:spPr>
          <a:xfrm>
            <a:off x="5743932" y="3329226"/>
            <a:ext cx="3156347" cy="2843213"/>
          </a:xfrm>
          <a:prstGeom prst="rect">
            <a:avLst/>
          </a:prstGeom>
          <a:noFill/>
          <a:ln/>
        </p:spPr>
        <p:txBody>
          <a:bodyPr wrap="square" rtlCol="0" anchor="t"/>
          <a:lstStyle/>
          <a:p>
            <a:pPr marL="0" indent="0">
              <a:lnSpc>
                <a:spcPts val="2799"/>
              </a:lnSpc>
              <a:buNone/>
            </a:pPr>
            <a:r>
              <a:rPr lang="en-US" sz="1750" kern="0" spc="-35" dirty="0">
                <a:solidFill>
                  <a:srgbClr val="272525"/>
                </a:solidFill>
                <a:latin typeface="Inter" pitchFamily="34" charset="0"/>
                <a:ea typeface="Inter" pitchFamily="34" charset="-122"/>
                <a:cs typeface="Inter" pitchFamily="34" charset="-120"/>
              </a:rPr>
              <a:t>Registro detallado de vehículos asociados a cada cliente. Seguimiento de historial de mantenimiento y reparaciones. Visualización de información y búsqueda por número de identificación del vehículo (VIN) o cliente.</a:t>
            </a:r>
            <a:endParaRPr lang="en-US" sz="1750" dirty="0"/>
          </a:p>
        </p:txBody>
      </p:sp>
      <p:sp>
        <p:nvSpPr>
          <p:cNvPr id="9" name="Text 7"/>
          <p:cNvSpPr/>
          <p:nvPr/>
        </p:nvSpPr>
        <p:spPr>
          <a:xfrm>
            <a:off x="9449872" y="2759869"/>
            <a:ext cx="3156347" cy="694373"/>
          </a:xfrm>
          <a:prstGeom prst="rect">
            <a:avLst/>
          </a:prstGeom>
          <a:noFill/>
          <a:ln/>
        </p:spPr>
        <p:txBody>
          <a:bodyPr wrap="square" rtlCol="0" anchor="t"/>
          <a:lstStyle/>
          <a:p>
            <a:pPr marL="0" indent="0">
              <a:lnSpc>
                <a:spcPts val="2734"/>
              </a:lnSpc>
              <a:buNone/>
            </a:pPr>
            <a:r>
              <a:rPr lang="en-US" sz="2187" b="1" kern="0" spc="-66" dirty="0">
                <a:solidFill>
                  <a:srgbClr val="000000"/>
                </a:solidFill>
                <a:latin typeface="Inter" pitchFamily="34" charset="0"/>
                <a:ea typeface="Inter" pitchFamily="34" charset="-122"/>
                <a:cs typeface="Inter" pitchFamily="34" charset="-120"/>
              </a:rPr>
              <a:t>Gestión de Órdenes de Taller</a:t>
            </a:r>
            <a:endParaRPr lang="en-US" sz="2187" dirty="0"/>
          </a:p>
        </p:txBody>
      </p:sp>
      <p:sp>
        <p:nvSpPr>
          <p:cNvPr id="10" name="Text 8"/>
          <p:cNvSpPr/>
          <p:nvPr/>
        </p:nvSpPr>
        <p:spPr>
          <a:xfrm>
            <a:off x="9449872" y="3676412"/>
            <a:ext cx="3156347" cy="2843213"/>
          </a:xfrm>
          <a:prstGeom prst="rect">
            <a:avLst/>
          </a:prstGeom>
          <a:noFill/>
          <a:ln/>
        </p:spPr>
        <p:txBody>
          <a:bodyPr wrap="square" rtlCol="0" anchor="t"/>
          <a:lstStyle/>
          <a:p>
            <a:pPr marL="0" indent="0">
              <a:lnSpc>
                <a:spcPts val="2799"/>
              </a:lnSpc>
              <a:buNone/>
            </a:pPr>
            <a:r>
              <a:rPr lang="en-US" sz="1750" kern="0" spc="-35" dirty="0">
                <a:solidFill>
                  <a:srgbClr val="272525"/>
                </a:solidFill>
                <a:latin typeface="Inter" pitchFamily="34" charset="0"/>
                <a:ea typeface="Inter" pitchFamily="34" charset="-122"/>
                <a:cs typeface="Inter" pitchFamily="34" charset="-120"/>
              </a:rPr>
              <a:t>Creación, modificación y seguimiento de órdenes de taller. Generación automática de diagnósticos y recomendaciones. Seguimiento de piezas, mano de obra y costos asociados a cada orden.</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5" name="Shape 2"/>
          <p:cNvSpPr/>
          <p:nvPr/>
        </p:nvSpPr>
        <p:spPr>
          <a:xfrm>
            <a:off x="0" y="0"/>
            <a:ext cx="14630400" cy="8229600"/>
          </a:xfrm>
          <a:prstGeom prst="rect">
            <a:avLst/>
          </a:prstGeom>
          <a:solidFill>
            <a:srgbClr val="FFFFFF">
              <a:alpha val="85000"/>
            </a:srgbClr>
          </a:solidFill>
          <a:ln/>
        </p:spPr>
      </p:sp>
      <p:sp>
        <p:nvSpPr>
          <p:cNvPr id="6" name="Text 3"/>
          <p:cNvSpPr/>
          <p:nvPr/>
        </p:nvSpPr>
        <p:spPr>
          <a:xfrm>
            <a:off x="2037993" y="1539835"/>
            <a:ext cx="5554980" cy="694373"/>
          </a:xfrm>
          <a:prstGeom prst="rect">
            <a:avLst/>
          </a:prstGeom>
          <a:noFill/>
          <a:ln/>
        </p:spPr>
        <p:txBody>
          <a:bodyPr wrap="none" rtlCol="0" anchor="t"/>
          <a:lstStyle/>
          <a:p>
            <a:pPr marL="0" indent="0">
              <a:lnSpc>
                <a:spcPts val="5468"/>
              </a:lnSpc>
              <a:buNone/>
            </a:pPr>
            <a:r>
              <a:rPr lang="en-US" sz="4374" b="1" kern="0" spc="-131" dirty="0">
                <a:solidFill>
                  <a:srgbClr val="000000"/>
                </a:solidFill>
                <a:latin typeface="Inter" pitchFamily="34" charset="0"/>
                <a:ea typeface="Inter" pitchFamily="34" charset="-122"/>
                <a:cs typeface="Inter" pitchFamily="34" charset="-120"/>
              </a:rPr>
              <a:t>Facturación</a:t>
            </a:r>
            <a:endParaRPr lang="en-US" sz="4374" dirty="0"/>
          </a:p>
        </p:txBody>
      </p:sp>
      <p:sp>
        <p:nvSpPr>
          <p:cNvPr id="7" name="Shape 4"/>
          <p:cNvSpPr/>
          <p:nvPr/>
        </p:nvSpPr>
        <p:spPr>
          <a:xfrm>
            <a:off x="2037993" y="2567464"/>
            <a:ext cx="3370064" cy="4122182"/>
          </a:xfrm>
          <a:prstGeom prst="roundRect">
            <a:avLst>
              <a:gd name="adj" fmla="val 2967"/>
            </a:avLst>
          </a:prstGeom>
          <a:solidFill>
            <a:srgbClr val="DADBF1"/>
          </a:solidFill>
          <a:ln w="7620">
            <a:solidFill>
              <a:srgbClr val="C0C1D7"/>
            </a:solidFill>
            <a:prstDash val="solid"/>
          </a:ln>
        </p:spPr>
      </p:sp>
      <p:sp>
        <p:nvSpPr>
          <p:cNvPr id="8" name="Text 5"/>
          <p:cNvSpPr/>
          <p:nvPr/>
        </p:nvSpPr>
        <p:spPr>
          <a:xfrm>
            <a:off x="2267783" y="2797254"/>
            <a:ext cx="2910483" cy="1041559"/>
          </a:xfrm>
          <a:prstGeom prst="rect">
            <a:avLst/>
          </a:prstGeom>
          <a:noFill/>
          <a:ln/>
        </p:spPr>
        <p:txBody>
          <a:bodyPr wrap="square" rtlCol="0" anchor="t"/>
          <a:lstStyle/>
          <a:p>
            <a:pPr marL="0" indent="0">
              <a:lnSpc>
                <a:spcPts val="2734"/>
              </a:lnSpc>
              <a:buNone/>
            </a:pPr>
            <a:r>
              <a:rPr lang="en-US" sz="2187" b="1" kern="0" spc="-66" dirty="0">
                <a:solidFill>
                  <a:srgbClr val="272525"/>
                </a:solidFill>
                <a:latin typeface="Inter" pitchFamily="34" charset="0"/>
                <a:ea typeface="Inter" pitchFamily="34" charset="-122"/>
                <a:cs typeface="Inter" pitchFamily="34" charset="-120"/>
              </a:rPr>
              <a:t>Generación Automática de Facturas</a:t>
            </a:r>
            <a:endParaRPr lang="en-US" sz="2187" dirty="0"/>
          </a:p>
        </p:txBody>
      </p:sp>
      <p:sp>
        <p:nvSpPr>
          <p:cNvPr id="9" name="Text 6"/>
          <p:cNvSpPr/>
          <p:nvPr/>
        </p:nvSpPr>
        <p:spPr>
          <a:xfrm>
            <a:off x="2267783" y="3972044"/>
            <a:ext cx="2910483" cy="2487811"/>
          </a:xfrm>
          <a:prstGeom prst="rect">
            <a:avLst/>
          </a:prstGeom>
          <a:noFill/>
          <a:ln/>
        </p:spPr>
        <p:txBody>
          <a:bodyPr wrap="square" rtlCol="0" anchor="t"/>
          <a:lstStyle/>
          <a:p>
            <a:pPr marL="0" indent="0">
              <a:lnSpc>
                <a:spcPts val="2799"/>
              </a:lnSpc>
              <a:buNone/>
            </a:pPr>
            <a:r>
              <a:rPr lang="en-US" sz="1750" kern="0" spc="-35" dirty="0">
                <a:solidFill>
                  <a:srgbClr val="272525"/>
                </a:solidFill>
                <a:latin typeface="Inter" pitchFamily="34" charset="0"/>
                <a:ea typeface="Inter" pitchFamily="34" charset="-122"/>
                <a:cs typeface="Inter" pitchFamily="34" charset="-120"/>
              </a:rPr>
              <a:t>El software genera automáticamente facturas en formato PDF, lo que facilita el proceso de facturación y mejora la presentación de los documentos.</a:t>
            </a:r>
            <a:endParaRPr lang="en-US" sz="1750" dirty="0"/>
          </a:p>
        </p:txBody>
      </p:sp>
      <p:sp>
        <p:nvSpPr>
          <p:cNvPr id="10" name="Shape 7"/>
          <p:cNvSpPr/>
          <p:nvPr/>
        </p:nvSpPr>
        <p:spPr>
          <a:xfrm>
            <a:off x="5630228" y="2567464"/>
            <a:ext cx="3370064" cy="4122182"/>
          </a:xfrm>
          <a:prstGeom prst="roundRect">
            <a:avLst>
              <a:gd name="adj" fmla="val 2967"/>
            </a:avLst>
          </a:prstGeom>
          <a:solidFill>
            <a:srgbClr val="DADBF1"/>
          </a:solidFill>
          <a:ln w="7620">
            <a:solidFill>
              <a:srgbClr val="C0C1D7"/>
            </a:solidFill>
            <a:prstDash val="solid"/>
          </a:ln>
        </p:spPr>
      </p:sp>
      <p:sp>
        <p:nvSpPr>
          <p:cNvPr id="11" name="Text 8"/>
          <p:cNvSpPr/>
          <p:nvPr/>
        </p:nvSpPr>
        <p:spPr>
          <a:xfrm>
            <a:off x="5860018" y="2797254"/>
            <a:ext cx="2910483" cy="694373"/>
          </a:xfrm>
          <a:prstGeom prst="rect">
            <a:avLst/>
          </a:prstGeom>
          <a:noFill/>
          <a:ln/>
        </p:spPr>
        <p:txBody>
          <a:bodyPr wrap="square" rtlCol="0" anchor="t"/>
          <a:lstStyle/>
          <a:p>
            <a:pPr marL="0" indent="0">
              <a:lnSpc>
                <a:spcPts val="2734"/>
              </a:lnSpc>
              <a:buNone/>
            </a:pPr>
            <a:r>
              <a:rPr lang="en-US" sz="2187" b="1" kern="0" spc="-66" dirty="0">
                <a:solidFill>
                  <a:srgbClr val="272525"/>
                </a:solidFill>
                <a:latin typeface="Inter" pitchFamily="34" charset="0"/>
                <a:ea typeface="Inter" pitchFamily="34" charset="-122"/>
                <a:cs typeface="Inter" pitchFamily="34" charset="-120"/>
              </a:rPr>
              <a:t>Exportación de Datos Financieros</a:t>
            </a:r>
            <a:endParaRPr lang="en-US" sz="2187" dirty="0"/>
          </a:p>
        </p:txBody>
      </p:sp>
      <p:sp>
        <p:nvSpPr>
          <p:cNvPr id="12" name="Text 9"/>
          <p:cNvSpPr/>
          <p:nvPr/>
        </p:nvSpPr>
        <p:spPr>
          <a:xfrm>
            <a:off x="5860018" y="3624858"/>
            <a:ext cx="2910483" cy="1777008"/>
          </a:xfrm>
          <a:prstGeom prst="rect">
            <a:avLst/>
          </a:prstGeom>
          <a:noFill/>
          <a:ln/>
        </p:spPr>
        <p:txBody>
          <a:bodyPr wrap="square" rtlCol="0" anchor="t"/>
          <a:lstStyle/>
          <a:p>
            <a:pPr marL="0" indent="0">
              <a:lnSpc>
                <a:spcPts val="2799"/>
              </a:lnSpc>
              <a:buNone/>
            </a:pPr>
            <a:r>
              <a:rPr lang="en-US" sz="1750" kern="0" spc="-35" dirty="0">
                <a:solidFill>
                  <a:srgbClr val="272525"/>
                </a:solidFill>
                <a:latin typeface="Inter" pitchFamily="34" charset="0"/>
                <a:ea typeface="Inter" pitchFamily="34" charset="-122"/>
                <a:cs typeface="Inter" pitchFamily="34" charset="-120"/>
              </a:rPr>
              <a:t>La información financiera generada por el sistema puede exportarse fácilmente para su integración con la contabilidad de la empresa.</a:t>
            </a:r>
            <a:endParaRPr lang="en-US" sz="1750" dirty="0"/>
          </a:p>
        </p:txBody>
      </p:sp>
      <p:sp>
        <p:nvSpPr>
          <p:cNvPr id="13" name="Shape 10"/>
          <p:cNvSpPr/>
          <p:nvPr/>
        </p:nvSpPr>
        <p:spPr>
          <a:xfrm>
            <a:off x="9222462" y="2567464"/>
            <a:ext cx="3370064" cy="4122182"/>
          </a:xfrm>
          <a:prstGeom prst="roundRect">
            <a:avLst>
              <a:gd name="adj" fmla="val 2967"/>
            </a:avLst>
          </a:prstGeom>
          <a:solidFill>
            <a:srgbClr val="DADBF1"/>
          </a:solidFill>
          <a:ln w="7620">
            <a:solidFill>
              <a:srgbClr val="C0C1D7"/>
            </a:solidFill>
            <a:prstDash val="solid"/>
          </a:ln>
        </p:spPr>
      </p:sp>
      <p:sp>
        <p:nvSpPr>
          <p:cNvPr id="14" name="Text 11"/>
          <p:cNvSpPr/>
          <p:nvPr/>
        </p:nvSpPr>
        <p:spPr>
          <a:xfrm>
            <a:off x="9452253" y="2797254"/>
            <a:ext cx="2910483" cy="694373"/>
          </a:xfrm>
          <a:prstGeom prst="rect">
            <a:avLst/>
          </a:prstGeom>
          <a:noFill/>
          <a:ln/>
        </p:spPr>
        <p:txBody>
          <a:bodyPr wrap="square" rtlCol="0" anchor="t"/>
          <a:lstStyle/>
          <a:p>
            <a:pPr marL="0" indent="0">
              <a:lnSpc>
                <a:spcPts val="2734"/>
              </a:lnSpc>
              <a:buNone/>
            </a:pPr>
            <a:r>
              <a:rPr lang="en-US" sz="2187" b="1" kern="0" spc="-66" dirty="0">
                <a:solidFill>
                  <a:srgbClr val="272525"/>
                </a:solidFill>
                <a:latin typeface="Inter" pitchFamily="34" charset="0"/>
                <a:ea typeface="Inter" pitchFamily="34" charset="-122"/>
                <a:cs typeface="Inter" pitchFamily="34" charset="-120"/>
              </a:rPr>
              <a:t>Opciones de Distribución</a:t>
            </a:r>
            <a:endParaRPr lang="en-US" sz="2187" dirty="0"/>
          </a:p>
        </p:txBody>
      </p:sp>
      <p:sp>
        <p:nvSpPr>
          <p:cNvPr id="15" name="Text 12"/>
          <p:cNvSpPr/>
          <p:nvPr/>
        </p:nvSpPr>
        <p:spPr>
          <a:xfrm>
            <a:off x="9452253" y="3624858"/>
            <a:ext cx="2910483" cy="2132409"/>
          </a:xfrm>
          <a:prstGeom prst="rect">
            <a:avLst/>
          </a:prstGeom>
          <a:noFill/>
          <a:ln/>
        </p:spPr>
        <p:txBody>
          <a:bodyPr wrap="square" rtlCol="0" anchor="t"/>
          <a:lstStyle/>
          <a:p>
            <a:pPr marL="0" indent="0">
              <a:lnSpc>
                <a:spcPts val="2799"/>
              </a:lnSpc>
              <a:buNone/>
            </a:pPr>
            <a:r>
              <a:rPr lang="en-US" sz="1750" kern="0" spc="-35" dirty="0">
                <a:solidFill>
                  <a:srgbClr val="272525"/>
                </a:solidFill>
                <a:latin typeface="Inter" pitchFamily="34" charset="0"/>
                <a:ea typeface="Inter" pitchFamily="34" charset="-122"/>
                <a:cs typeface="Inter" pitchFamily="34" charset="-120"/>
              </a:rPr>
              <a:t>Las facturas pueden imprimirse, guardarse o enviarse por correo electrónico a los clientes, brindando flexibilidad en la entrega de los documentos.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p:cNvPicPr>
            <a:picLocks noChangeAspect="1"/>
          </p:cNvPicPr>
          <p:nvPr/>
        </p:nvPicPr>
        <p:blipFill>
          <a:blip r:embed="rId3"/>
          <a:stretch>
            <a:fillRect/>
          </a:stretch>
        </p:blipFill>
        <p:spPr>
          <a:xfrm>
            <a:off x="10980420" y="0"/>
            <a:ext cx="3657600" cy="8229600"/>
          </a:xfrm>
          <a:prstGeom prst="rect">
            <a:avLst/>
          </a:prstGeom>
        </p:spPr>
      </p:pic>
      <p:sp>
        <p:nvSpPr>
          <p:cNvPr id="5" name="Text 2"/>
          <p:cNvSpPr/>
          <p:nvPr/>
        </p:nvSpPr>
        <p:spPr>
          <a:xfrm>
            <a:off x="848916" y="694849"/>
            <a:ext cx="9274850" cy="1220391"/>
          </a:xfrm>
          <a:prstGeom prst="rect">
            <a:avLst/>
          </a:prstGeom>
          <a:noFill/>
          <a:ln/>
        </p:spPr>
        <p:txBody>
          <a:bodyPr wrap="square" rtlCol="0" anchor="t"/>
          <a:lstStyle/>
          <a:p>
            <a:pPr marL="0" indent="0">
              <a:lnSpc>
                <a:spcPts val="4805"/>
              </a:lnSpc>
              <a:buNone/>
            </a:pPr>
            <a:r>
              <a:rPr lang="en-US" sz="3844" b="1" kern="0" spc="-115" dirty="0">
                <a:solidFill>
                  <a:srgbClr val="000000"/>
                </a:solidFill>
                <a:latin typeface="Inter" pitchFamily="34" charset="0"/>
                <a:ea typeface="Inter" pitchFamily="34" charset="-122"/>
                <a:cs typeface="Inter" pitchFamily="34" charset="-120"/>
              </a:rPr>
              <a:t>Impacto Esperado en Talleres Quirino Vallejero</a:t>
            </a:r>
            <a:endParaRPr lang="en-US" sz="3844" dirty="0"/>
          </a:p>
        </p:txBody>
      </p:sp>
      <p:sp>
        <p:nvSpPr>
          <p:cNvPr id="6" name="Shape 3"/>
          <p:cNvSpPr/>
          <p:nvPr/>
        </p:nvSpPr>
        <p:spPr>
          <a:xfrm>
            <a:off x="1122283" y="2208014"/>
            <a:ext cx="38933" cy="5326737"/>
          </a:xfrm>
          <a:prstGeom prst="roundRect">
            <a:avLst>
              <a:gd name="adj" fmla="val 225688"/>
            </a:avLst>
          </a:prstGeom>
          <a:solidFill>
            <a:srgbClr val="C0C1D7"/>
          </a:solidFill>
          <a:ln/>
        </p:spPr>
      </p:sp>
      <p:sp>
        <p:nvSpPr>
          <p:cNvPr id="7" name="Shape 4"/>
          <p:cNvSpPr/>
          <p:nvPr/>
        </p:nvSpPr>
        <p:spPr>
          <a:xfrm>
            <a:off x="1361301" y="2560618"/>
            <a:ext cx="683300" cy="38933"/>
          </a:xfrm>
          <a:prstGeom prst="roundRect">
            <a:avLst>
              <a:gd name="adj" fmla="val 225688"/>
            </a:avLst>
          </a:prstGeom>
          <a:solidFill>
            <a:srgbClr val="C0C1D7"/>
          </a:solidFill>
          <a:ln/>
        </p:spPr>
      </p:sp>
      <p:sp>
        <p:nvSpPr>
          <p:cNvPr id="8" name="Shape 5"/>
          <p:cNvSpPr/>
          <p:nvPr/>
        </p:nvSpPr>
        <p:spPr>
          <a:xfrm>
            <a:off x="922080" y="2360533"/>
            <a:ext cx="439222" cy="439222"/>
          </a:xfrm>
          <a:prstGeom prst="roundRect">
            <a:avLst>
              <a:gd name="adj" fmla="val 20005"/>
            </a:avLst>
          </a:prstGeom>
          <a:solidFill>
            <a:srgbClr val="DADBF1"/>
          </a:solidFill>
          <a:ln w="7620">
            <a:solidFill>
              <a:srgbClr val="C0C1D7"/>
            </a:solidFill>
            <a:prstDash val="solid"/>
          </a:ln>
        </p:spPr>
      </p:sp>
      <p:sp>
        <p:nvSpPr>
          <p:cNvPr id="9" name="Text 6"/>
          <p:cNvSpPr/>
          <p:nvPr/>
        </p:nvSpPr>
        <p:spPr>
          <a:xfrm>
            <a:off x="1074360" y="2397085"/>
            <a:ext cx="134541" cy="366117"/>
          </a:xfrm>
          <a:prstGeom prst="rect">
            <a:avLst/>
          </a:prstGeom>
          <a:noFill/>
          <a:ln/>
        </p:spPr>
        <p:txBody>
          <a:bodyPr wrap="none" rtlCol="0" anchor="t"/>
          <a:lstStyle/>
          <a:p>
            <a:pPr marL="0" indent="0" algn="ctr">
              <a:lnSpc>
                <a:spcPts val="2883"/>
              </a:lnSpc>
              <a:buNone/>
            </a:pPr>
            <a:r>
              <a:rPr lang="en-US" sz="2306" b="1" kern="0" spc="-69" dirty="0">
                <a:solidFill>
                  <a:srgbClr val="272525"/>
                </a:solidFill>
                <a:latin typeface="Inter" pitchFamily="34" charset="0"/>
                <a:ea typeface="Inter" pitchFamily="34" charset="-122"/>
                <a:cs typeface="Inter" pitchFamily="34" charset="-120"/>
              </a:rPr>
              <a:t>1</a:t>
            </a:r>
            <a:endParaRPr lang="en-US" sz="2306" dirty="0"/>
          </a:p>
        </p:txBody>
      </p:sp>
      <p:sp>
        <p:nvSpPr>
          <p:cNvPr id="10" name="Text 7"/>
          <p:cNvSpPr/>
          <p:nvPr/>
        </p:nvSpPr>
        <p:spPr>
          <a:xfrm>
            <a:off x="2215515" y="2403158"/>
            <a:ext cx="2440662" cy="305038"/>
          </a:xfrm>
          <a:prstGeom prst="rect">
            <a:avLst/>
          </a:prstGeom>
          <a:noFill/>
          <a:ln/>
        </p:spPr>
        <p:txBody>
          <a:bodyPr wrap="none" rtlCol="0" anchor="t"/>
          <a:lstStyle/>
          <a:p>
            <a:pPr marL="0" indent="0" algn="l">
              <a:lnSpc>
                <a:spcPts val="2402"/>
              </a:lnSpc>
              <a:buNone/>
            </a:pPr>
            <a:r>
              <a:rPr lang="en-US" sz="1922" b="1" kern="0" spc="-58" dirty="0">
                <a:solidFill>
                  <a:srgbClr val="272525"/>
                </a:solidFill>
                <a:latin typeface="Inter" pitchFamily="34" charset="0"/>
                <a:ea typeface="Inter" pitchFamily="34" charset="-122"/>
                <a:cs typeface="Inter" pitchFamily="34" charset="-120"/>
              </a:rPr>
              <a:t>Eficiencia Operativa</a:t>
            </a:r>
            <a:endParaRPr lang="en-US" sz="1922" dirty="0"/>
          </a:p>
        </p:txBody>
      </p:sp>
      <p:sp>
        <p:nvSpPr>
          <p:cNvPr id="11" name="Text 8"/>
          <p:cNvSpPr/>
          <p:nvPr/>
        </p:nvSpPr>
        <p:spPr>
          <a:xfrm>
            <a:off x="2215515" y="2825234"/>
            <a:ext cx="7908250" cy="937260"/>
          </a:xfrm>
          <a:prstGeom prst="rect">
            <a:avLst/>
          </a:prstGeom>
          <a:noFill/>
          <a:ln/>
        </p:spPr>
        <p:txBody>
          <a:bodyPr wrap="square" rtlCol="0" anchor="t"/>
          <a:lstStyle/>
          <a:p>
            <a:pPr marL="0" indent="0" algn="l">
              <a:lnSpc>
                <a:spcPts val="2460"/>
              </a:lnSpc>
              <a:buNone/>
            </a:pPr>
            <a:r>
              <a:rPr lang="en-US" sz="1537" kern="0" spc="-31" dirty="0">
                <a:solidFill>
                  <a:srgbClr val="272525"/>
                </a:solidFill>
                <a:latin typeface="Inter" pitchFamily="34" charset="0"/>
                <a:ea typeface="Inter" pitchFamily="34" charset="-122"/>
                <a:cs typeface="Inter" pitchFamily="34" charset="-120"/>
              </a:rPr>
              <a:t>La automatización de tareas críticas, la optimización de los tiempos de atención al cliente y los procesos de diagnóstico estandarizados mejorarán significativamente la eficiencia operativa del taller.</a:t>
            </a:r>
            <a:endParaRPr lang="en-US" sz="1537" dirty="0"/>
          </a:p>
        </p:txBody>
      </p:sp>
      <p:sp>
        <p:nvSpPr>
          <p:cNvPr id="12" name="Shape 9"/>
          <p:cNvSpPr/>
          <p:nvPr/>
        </p:nvSpPr>
        <p:spPr>
          <a:xfrm>
            <a:off x="1361301" y="4505385"/>
            <a:ext cx="683300" cy="38933"/>
          </a:xfrm>
          <a:prstGeom prst="roundRect">
            <a:avLst>
              <a:gd name="adj" fmla="val 225688"/>
            </a:avLst>
          </a:prstGeom>
          <a:solidFill>
            <a:srgbClr val="C0C1D7"/>
          </a:solidFill>
          <a:ln/>
        </p:spPr>
      </p:sp>
      <p:sp>
        <p:nvSpPr>
          <p:cNvPr id="13" name="Shape 10"/>
          <p:cNvSpPr/>
          <p:nvPr/>
        </p:nvSpPr>
        <p:spPr>
          <a:xfrm>
            <a:off x="922080" y="4305300"/>
            <a:ext cx="439222" cy="439222"/>
          </a:xfrm>
          <a:prstGeom prst="roundRect">
            <a:avLst>
              <a:gd name="adj" fmla="val 20005"/>
            </a:avLst>
          </a:prstGeom>
          <a:solidFill>
            <a:srgbClr val="DADBF1"/>
          </a:solidFill>
          <a:ln w="7620">
            <a:solidFill>
              <a:srgbClr val="C0C1D7"/>
            </a:solidFill>
            <a:prstDash val="solid"/>
          </a:ln>
        </p:spPr>
      </p:sp>
      <p:sp>
        <p:nvSpPr>
          <p:cNvPr id="14" name="Text 11"/>
          <p:cNvSpPr/>
          <p:nvPr/>
        </p:nvSpPr>
        <p:spPr>
          <a:xfrm>
            <a:off x="1053763" y="4341852"/>
            <a:ext cx="175736" cy="366117"/>
          </a:xfrm>
          <a:prstGeom prst="rect">
            <a:avLst/>
          </a:prstGeom>
          <a:noFill/>
          <a:ln/>
        </p:spPr>
        <p:txBody>
          <a:bodyPr wrap="none" rtlCol="0" anchor="t"/>
          <a:lstStyle/>
          <a:p>
            <a:pPr marL="0" indent="0" algn="ctr">
              <a:lnSpc>
                <a:spcPts val="2883"/>
              </a:lnSpc>
              <a:buNone/>
            </a:pPr>
            <a:r>
              <a:rPr lang="en-US" sz="2306" b="1" kern="0" spc="-69" dirty="0">
                <a:solidFill>
                  <a:srgbClr val="272525"/>
                </a:solidFill>
                <a:latin typeface="Inter" pitchFamily="34" charset="0"/>
                <a:ea typeface="Inter" pitchFamily="34" charset="-122"/>
                <a:cs typeface="Inter" pitchFamily="34" charset="-120"/>
              </a:rPr>
              <a:t>2</a:t>
            </a:r>
            <a:endParaRPr lang="en-US" sz="2306" dirty="0"/>
          </a:p>
        </p:txBody>
      </p:sp>
      <p:sp>
        <p:nvSpPr>
          <p:cNvPr id="15" name="Text 12"/>
          <p:cNvSpPr/>
          <p:nvPr/>
        </p:nvSpPr>
        <p:spPr>
          <a:xfrm>
            <a:off x="2215515" y="4347924"/>
            <a:ext cx="2440662" cy="305038"/>
          </a:xfrm>
          <a:prstGeom prst="rect">
            <a:avLst/>
          </a:prstGeom>
          <a:noFill/>
          <a:ln/>
        </p:spPr>
        <p:txBody>
          <a:bodyPr wrap="none" rtlCol="0" anchor="t"/>
          <a:lstStyle/>
          <a:p>
            <a:pPr marL="0" indent="0" algn="l">
              <a:lnSpc>
                <a:spcPts val="2402"/>
              </a:lnSpc>
              <a:buNone/>
            </a:pPr>
            <a:r>
              <a:rPr lang="en-US" sz="1922" b="1" kern="0" spc="-58" dirty="0">
                <a:solidFill>
                  <a:srgbClr val="272525"/>
                </a:solidFill>
                <a:latin typeface="Inter" pitchFamily="34" charset="0"/>
                <a:ea typeface="Inter" pitchFamily="34" charset="-122"/>
                <a:cs typeface="Inter" pitchFamily="34" charset="-120"/>
              </a:rPr>
              <a:t>Reducción de Errores</a:t>
            </a:r>
            <a:endParaRPr lang="en-US" sz="1922" dirty="0"/>
          </a:p>
        </p:txBody>
      </p:sp>
      <p:sp>
        <p:nvSpPr>
          <p:cNvPr id="16" name="Text 13"/>
          <p:cNvSpPr/>
          <p:nvPr/>
        </p:nvSpPr>
        <p:spPr>
          <a:xfrm>
            <a:off x="2215515" y="4770001"/>
            <a:ext cx="7908250" cy="937260"/>
          </a:xfrm>
          <a:prstGeom prst="rect">
            <a:avLst/>
          </a:prstGeom>
          <a:noFill/>
          <a:ln/>
        </p:spPr>
        <p:txBody>
          <a:bodyPr wrap="square" rtlCol="0" anchor="t"/>
          <a:lstStyle/>
          <a:p>
            <a:pPr marL="0" indent="0" algn="l">
              <a:lnSpc>
                <a:spcPts val="2460"/>
              </a:lnSpc>
              <a:buNone/>
            </a:pPr>
            <a:r>
              <a:rPr lang="en-US" sz="1537" kern="0" spc="-31" dirty="0">
                <a:solidFill>
                  <a:srgbClr val="272525"/>
                </a:solidFill>
                <a:latin typeface="Inter" pitchFamily="34" charset="0"/>
                <a:ea typeface="Inter" pitchFamily="34" charset="-122"/>
                <a:cs typeface="Inter" pitchFamily="34" charset="-120"/>
              </a:rPr>
              <a:t>La entrada de datos unificada, las estadísticas y gráficos precisos, y el seguimiento de órdenes y facturación ayudarán a reducir los errores y mejorar la calidad de la información.</a:t>
            </a:r>
            <a:endParaRPr lang="en-US" sz="1537" dirty="0"/>
          </a:p>
        </p:txBody>
      </p:sp>
      <p:sp>
        <p:nvSpPr>
          <p:cNvPr id="17" name="Shape 14"/>
          <p:cNvSpPr/>
          <p:nvPr/>
        </p:nvSpPr>
        <p:spPr>
          <a:xfrm>
            <a:off x="1361301" y="6450151"/>
            <a:ext cx="683300" cy="38933"/>
          </a:xfrm>
          <a:prstGeom prst="roundRect">
            <a:avLst>
              <a:gd name="adj" fmla="val 225688"/>
            </a:avLst>
          </a:prstGeom>
          <a:solidFill>
            <a:srgbClr val="C0C1D7"/>
          </a:solidFill>
          <a:ln/>
        </p:spPr>
      </p:sp>
      <p:sp>
        <p:nvSpPr>
          <p:cNvPr id="18" name="Shape 15"/>
          <p:cNvSpPr/>
          <p:nvPr/>
        </p:nvSpPr>
        <p:spPr>
          <a:xfrm>
            <a:off x="922080" y="6250067"/>
            <a:ext cx="439222" cy="439222"/>
          </a:xfrm>
          <a:prstGeom prst="roundRect">
            <a:avLst>
              <a:gd name="adj" fmla="val 20005"/>
            </a:avLst>
          </a:prstGeom>
          <a:solidFill>
            <a:srgbClr val="DADBF1"/>
          </a:solidFill>
          <a:ln w="7620">
            <a:solidFill>
              <a:srgbClr val="C0C1D7"/>
            </a:solidFill>
            <a:prstDash val="solid"/>
          </a:ln>
        </p:spPr>
      </p:sp>
      <p:sp>
        <p:nvSpPr>
          <p:cNvPr id="19" name="Text 16"/>
          <p:cNvSpPr/>
          <p:nvPr/>
        </p:nvSpPr>
        <p:spPr>
          <a:xfrm>
            <a:off x="1049476" y="6286619"/>
            <a:ext cx="184309" cy="366117"/>
          </a:xfrm>
          <a:prstGeom prst="rect">
            <a:avLst/>
          </a:prstGeom>
          <a:noFill/>
          <a:ln/>
        </p:spPr>
        <p:txBody>
          <a:bodyPr wrap="none" rtlCol="0" anchor="t"/>
          <a:lstStyle/>
          <a:p>
            <a:pPr marL="0" indent="0" algn="ctr">
              <a:lnSpc>
                <a:spcPts val="2883"/>
              </a:lnSpc>
              <a:buNone/>
            </a:pPr>
            <a:r>
              <a:rPr lang="en-US" sz="2306" b="1" kern="0" spc="-69" dirty="0">
                <a:solidFill>
                  <a:srgbClr val="272525"/>
                </a:solidFill>
                <a:latin typeface="Inter" pitchFamily="34" charset="0"/>
                <a:ea typeface="Inter" pitchFamily="34" charset="-122"/>
                <a:cs typeface="Inter" pitchFamily="34" charset="-120"/>
              </a:rPr>
              <a:t>3</a:t>
            </a:r>
            <a:endParaRPr lang="en-US" sz="2306" dirty="0"/>
          </a:p>
        </p:txBody>
      </p:sp>
      <p:sp>
        <p:nvSpPr>
          <p:cNvPr id="20" name="Text 17"/>
          <p:cNvSpPr/>
          <p:nvPr/>
        </p:nvSpPr>
        <p:spPr>
          <a:xfrm>
            <a:off x="2215515" y="6292691"/>
            <a:ext cx="2642116" cy="305038"/>
          </a:xfrm>
          <a:prstGeom prst="rect">
            <a:avLst/>
          </a:prstGeom>
          <a:noFill/>
          <a:ln/>
        </p:spPr>
        <p:txBody>
          <a:bodyPr wrap="none" rtlCol="0" anchor="t"/>
          <a:lstStyle/>
          <a:p>
            <a:pPr marL="0" indent="0" algn="l">
              <a:lnSpc>
                <a:spcPts val="2402"/>
              </a:lnSpc>
              <a:buNone/>
            </a:pPr>
            <a:r>
              <a:rPr lang="en-US" sz="1922" b="1" kern="0" spc="-58" dirty="0">
                <a:solidFill>
                  <a:srgbClr val="272525"/>
                </a:solidFill>
                <a:latin typeface="Inter" pitchFamily="34" charset="0"/>
                <a:ea typeface="Inter" pitchFamily="34" charset="-122"/>
                <a:cs typeface="Inter" pitchFamily="34" charset="-120"/>
              </a:rPr>
              <a:t>Satisfacción del Cliente</a:t>
            </a:r>
            <a:endParaRPr lang="en-US" sz="1922" dirty="0"/>
          </a:p>
        </p:txBody>
      </p:sp>
      <p:sp>
        <p:nvSpPr>
          <p:cNvPr id="21" name="Text 18"/>
          <p:cNvSpPr/>
          <p:nvPr/>
        </p:nvSpPr>
        <p:spPr>
          <a:xfrm>
            <a:off x="2215515" y="6714768"/>
            <a:ext cx="7908250" cy="624840"/>
          </a:xfrm>
          <a:prstGeom prst="rect">
            <a:avLst/>
          </a:prstGeom>
          <a:noFill/>
          <a:ln/>
        </p:spPr>
        <p:txBody>
          <a:bodyPr wrap="square" rtlCol="0" anchor="t"/>
          <a:lstStyle/>
          <a:p>
            <a:pPr marL="0" indent="0" algn="l">
              <a:lnSpc>
                <a:spcPts val="2460"/>
              </a:lnSpc>
              <a:buNone/>
            </a:pPr>
            <a:r>
              <a:rPr lang="en-US" sz="1537" kern="0" spc="-31" dirty="0">
                <a:solidFill>
                  <a:srgbClr val="272525"/>
                </a:solidFill>
                <a:latin typeface="Inter" pitchFamily="34" charset="0"/>
                <a:ea typeface="Inter" pitchFamily="34" charset="-122"/>
                <a:cs typeface="Inter" pitchFamily="34" charset="-120"/>
              </a:rPr>
              <a:t>Los procesos rápidos y efectivos, la comunicación clara y el historial completo de servicios contribuirán a una mejor satisfacción y fidelidad de los clientes.</a:t>
            </a:r>
            <a:endParaRPr lang="en-US" sz="153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
        <p:nvSpPr>
          <p:cNvPr id="4" name="Text 2"/>
          <p:cNvSpPr/>
          <p:nvPr/>
        </p:nvSpPr>
        <p:spPr>
          <a:xfrm>
            <a:off x="2037993" y="1154668"/>
            <a:ext cx="8861941" cy="694373"/>
          </a:xfrm>
          <a:prstGeom prst="rect">
            <a:avLst/>
          </a:prstGeom>
          <a:noFill/>
          <a:ln/>
        </p:spPr>
        <p:txBody>
          <a:bodyPr wrap="none" rtlCol="0" anchor="t"/>
          <a:lstStyle/>
          <a:p>
            <a:pPr marL="0" indent="0">
              <a:lnSpc>
                <a:spcPts val="5468"/>
              </a:lnSpc>
              <a:buNone/>
            </a:pPr>
            <a:r>
              <a:rPr lang="en-US" sz="4374" b="1" kern="0" spc="-131" dirty="0">
                <a:solidFill>
                  <a:srgbClr val="000000"/>
                </a:solidFill>
                <a:latin typeface="Inter" pitchFamily="34" charset="0"/>
                <a:ea typeface="Inter" pitchFamily="34" charset="-122"/>
                <a:cs typeface="Inter" pitchFamily="34" charset="-120"/>
              </a:rPr>
              <a:t>Aspectos Financieros del Proyecto</a:t>
            </a:r>
            <a:endParaRPr lang="en-US" sz="4374" dirty="0"/>
          </a:p>
        </p:txBody>
      </p:sp>
      <p:sp>
        <p:nvSpPr>
          <p:cNvPr id="5" name="Text 3"/>
          <p:cNvSpPr/>
          <p:nvPr/>
        </p:nvSpPr>
        <p:spPr>
          <a:xfrm>
            <a:off x="2037993" y="2404467"/>
            <a:ext cx="3156347" cy="694373"/>
          </a:xfrm>
          <a:prstGeom prst="rect">
            <a:avLst/>
          </a:prstGeom>
          <a:noFill/>
          <a:ln/>
        </p:spPr>
        <p:txBody>
          <a:bodyPr wrap="square" rtlCol="0" anchor="t"/>
          <a:lstStyle/>
          <a:p>
            <a:pPr marL="0" indent="0">
              <a:lnSpc>
                <a:spcPts val="2734"/>
              </a:lnSpc>
              <a:buNone/>
            </a:pPr>
            <a:r>
              <a:rPr lang="en-US" sz="2187" b="1" kern="0" spc="-66" dirty="0">
                <a:solidFill>
                  <a:srgbClr val="000000"/>
                </a:solidFill>
                <a:latin typeface="Inter" pitchFamily="34" charset="0"/>
                <a:ea typeface="Inter" pitchFamily="34" charset="-122"/>
                <a:cs typeface="Inter" pitchFamily="34" charset="-120"/>
              </a:rPr>
              <a:t>Venta del Software más Mantenimiento Mensual</a:t>
            </a:r>
            <a:endParaRPr lang="en-US" sz="2187" dirty="0"/>
          </a:p>
        </p:txBody>
      </p:sp>
      <p:sp>
        <p:nvSpPr>
          <p:cNvPr id="6" name="Text 4"/>
          <p:cNvSpPr/>
          <p:nvPr/>
        </p:nvSpPr>
        <p:spPr>
          <a:xfrm>
            <a:off x="2037993" y="3321010"/>
            <a:ext cx="3156347" cy="3554016"/>
          </a:xfrm>
          <a:prstGeom prst="rect">
            <a:avLst/>
          </a:prstGeom>
          <a:noFill/>
          <a:ln/>
        </p:spPr>
        <p:txBody>
          <a:bodyPr wrap="square" rtlCol="0" anchor="t"/>
          <a:lstStyle/>
          <a:p>
            <a:pPr marL="0" indent="0">
              <a:lnSpc>
                <a:spcPts val="2799"/>
              </a:lnSpc>
              <a:buNone/>
            </a:pPr>
            <a:r>
              <a:rPr lang="en-US" sz="1750" kern="0" spc="-35" dirty="0">
                <a:solidFill>
                  <a:srgbClr val="272525"/>
                </a:solidFill>
                <a:latin typeface="Inter" pitchFamily="34" charset="0"/>
                <a:ea typeface="Inter" pitchFamily="34" charset="-122"/>
                <a:cs typeface="Inter" pitchFamily="34" charset="-120"/>
              </a:rPr>
              <a:t>En este modelo, la empresa Talleres Quirino Vallejero adquiere una licencia perpetua del software con un costo inicial de compra. Adicionalmente, se cobra una cuota mensual por mantenimiento, la cual incluye soporte técnico, actualizaciones y mejoras.</a:t>
            </a:r>
            <a:endParaRPr lang="en-US" sz="1750" dirty="0"/>
          </a:p>
        </p:txBody>
      </p:sp>
      <p:sp>
        <p:nvSpPr>
          <p:cNvPr id="7" name="Text 5"/>
          <p:cNvSpPr/>
          <p:nvPr/>
        </p:nvSpPr>
        <p:spPr>
          <a:xfrm>
            <a:off x="5743932" y="2404467"/>
            <a:ext cx="3156347" cy="694373"/>
          </a:xfrm>
          <a:prstGeom prst="rect">
            <a:avLst/>
          </a:prstGeom>
          <a:noFill/>
          <a:ln/>
        </p:spPr>
        <p:txBody>
          <a:bodyPr wrap="square" rtlCol="0" anchor="t"/>
          <a:lstStyle/>
          <a:p>
            <a:pPr marL="0" indent="0">
              <a:lnSpc>
                <a:spcPts val="2734"/>
              </a:lnSpc>
              <a:buNone/>
            </a:pPr>
            <a:r>
              <a:rPr lang="en-US" sz="2187" b="1" kern="0" spc="-66" dirty="0">
                <a:solidFill>
                  <a:srgbClr val="000000"/>
                </a:solidFill>
                <a:latin typeface="Inter" pitchFamily="34" charset="0"/>
                <a:ea typeface="Inter" pitchFamily="34" charset="-122"/>
                <a:cs typeface="Inter" pitchFamily="34" charset="-120"/>
              </a:rPr>
              <a:t>Alquiler del Software con Pagos Mensuales</a:t>
            </a:r>
            <a:endParaRPr lang="en-US" sz="2187" dirty="0"/>
          </a:p>
        </p:txBody>
      </p:sp>
      <p:sp>
        <p:nvSpPr>
          <p:cNvPr id="8" name="Text 6"/>
          <p:cNvSpPr/>
          <p:nvPr/>
        </p:nvSpPr>
        <p:spPr>
          <a:xfrm>
            <a:off x="5743932" y="3321010"/>
            <a:ext cx="3156347" cy="3198614"/>
          </a:xfrm>
          <a:prstGeom prst="rect">
            <a:avLst/>
          </a:prstGeom>
          <a:noFill/>
          <a:ln/>
        </p:spPr>
        <p:txBody>
          <a:bodyPr wrap="square" rtlCol="0" anchor="t"/>
          <a:lstStyle/>
          <a:p>
            <a:pPr marL="0" indent="0">
              <a:lnSpc>
                <a:spcPts val="2799"/>
              </a:lnSpc>
              <a:buNone/>
            </a:pPr>
            <a:r>
              <a:rPr lang="en-US" sz="1750" kern="0" spc="-35" dirty="0">
                <a:solidFill>
                  <a:srgbClr val="272525"/>
                </a:solidFill>
                <a:latin typeface="Inter" pitchFamily="34" charset="0"/>
                <a:ea typeface="Inter" pitchFamily="34" charset="-122"/>
                <a:cs typeface="Inter" pitchFamily="34" charset="-120"/>
              </a:rPr>
              <a:t>En este modelo, la empresa Talleres Quirino Vallejero paga una cuota mensual que incluye el alquiler del software y el costo de mantenimiento. La cuota mensual está compuesta por un porcentaje del precio de venta del software más el costo de mantenimiento.</a:t>
            </a:r>
            <a:endParaRPr lang="en-US" sz="1750" dirty="0"/>
          </a:p>
        </p:txBody>
      </p:sp>
      <p:sp>
        <p:nvSpPr>
          <p:cNvPr id="9" name="Text 7"/>
          <p:cNvSpPr/>
          <p:nvPr/>
        </p:nvSpPr>
        <p:spPr>
          <a:xfrm>
            <a:off x="9449872" y="2404467"/>
            <a:ext cx="3156347" cy="694373"/>
          </a:xfrm>
          <a:prstGeom prst="rect">
            <a:avLst/>
          </a:prstGeom>
          <a:noFill/>
          <a:ln/>
        </p:spPr>
        <p:txBody>
          <a:bodyPr wrap="square" rtlCol="0" anchor="t"/>
          <a:lstStyle/>
          <a:p>
            <a:pPr marL="0" indent="0">
              <a:lnSpc>
                <a:spcPts val="2734"/>
              </a:lnSpc>
              <a:buNone/>
            </a:pPr>
            <a:r>
              <a:rPr lang="en-US" sz="2187" b="1" kern="0" spc="-66" dirty="0">
                <a:solidFill>
                  <a:srgbClr val="000000"/>
                </a:solidFill>
                <a:latin typeface="Inter" pitchFamily="34" charset="0"/>
                <a:ea typeface="Inter" pitchFamily="34" charset="-122"/>
                <a:cs typeface="Inter" pitchFamily="34" charset="-120"/>
              </a:rPr>
              <a:t>Comparación de Modelos</a:t>
            </a:r>
            <a:endParaRPr lang="en-US" sz="2187" dirty="0"/>
          </a:p>
        </p:txBody>
      </p:sp>
      <p:sp>
        <p:nvSpPr>
          <p:cNvPr id="10" name="Text 8"/>
          <p:cNvSpPr/>
          <p:nvPr/>
        </p:nvSpPr>
        <p:spPr>
          <a:xfrm>
            <a:off x="9449872" y="3321010"/>
            <a:ext cx="3156347" cy="2132409"/>
          </a:xfrm>
          <a:prstGeom prst="rect">
            <a:avLst/>
          </a:prstGeom>
          <a:noFill/>
          <a:ln/>
        </p:spPr>
        <p:txBody>
          <a:bodyPr wrap="square" rtlCol="0" anchor="t"/>
          <a:lstStyle/>
          <a:p>
            <a:pPr marL="0" indent="0">
              <a:lnSpc>
                <a:spcPts val="2799"/>
              </a:lnSpc>
              <a:buNone/>
            </a:pPr>
            <a:r>
              <a:rPr lang="en-US" sz="1750" kern="0" spc="-35" dirty="0">
                <a:solidFill>
                  <a:srgbClr val="272525"/>
                </a:solidFill>
                <a:latin typeface="Inter" pitchFamily="34" charset="0"/>
                <a:ea typeface="Inter" pitchFamily="34" charset="-122"/>
                <a:cs typeface="Inter" pitchFamily="34" charset="-120"/>
              </a:rPr>
              <a:t>Ambos modelos ofrecen beneficios financieros, pero el modelo de alquiler con pagos mensuales proporciona un flujo de ingresos más estable y predecible para la empresa.</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
        <p:nvSpPr>
          <p:cNvPr id="4" name="Text 2"/>
          <p:cNvSpPr/>
          <p:nvPr/>
        </p:nvSpPr>
        <p:spPr>
          <a:xfrm>
            <a:off x="2037993" y="1494830"/>
            <a:ext cx="5763816" cy="694373"/>
          </a:xfrm>
          <a:prstGeom prst="rect">
            <a:avLst/>
          </a:prstGeom>
          <a:noFill/>
          <a:ln/>
        </p:spPr>
        <p:txBody>
          <a:bodyPr wrap="none" rtlCol="0" anchor="t"/>
          <a:lstStyle/>
          <a:p>
            <a:pPr marL="0" indent="0">
              <a:lnSpc>
                <a:spcPts val="5468"/>
              </a:lnSpc>
              <a:buNone/>
            </a:pPr>
            <a:r>
              <a:rPr lang="en-US" sz="4374" b="1" kern="0" spc="-131" dirty="0">
                <a:solidFill>
                  <a:srgbClr val="000000"/>
                </a:solidFill>
                <a:latin typeface="Inter" pitchFamily="34" charset="0"/>
                <a:ea typeface="Inter" pitchFamily="34" charset="-122"/>
                <a:cs typeface="Inter" pitchFamily="34" charset="-120"/>
              </a:rPr>
              <a:t>Tecnologías Utilizadas</a:t>
            </a:r>
            <a:endParaRPr lang="en-US" sz="4374" dirty="0"/>
          </a:p>
        </p:txBody>
      </p:sp>
      <p:pic>
        <p:nvPicPr>
          <p:cNvPr id="5" name="Image 0" descr="preencoded.png"/>
          <p:cNvPicPr>
            <a:picLocks noChangeAspect="1"/>
          </p:cNvPicPr>
          <p:nvPr/>
        </p:nvPicPr>
        <p:blipFill>
          <a:blip r:embed="rId3"/>
          <a:stretch>
            <a:fillRect/>
          </a:stretch>
        </p:blipFill>
        <p:spPr>
          <a:xfrm>
            <a:off x="2037993" y="2633543"/>
            <a:ext cx="555427" cy="555427"/>
          </a:xfrm>
          <a:prstGeom prst="rect">
            <a:avLst/>
          </a:prstGeom>
        </p:spPr>
      </p:pic>
      <p:sp>
        <p:nvSpPr>
          <p:cNvPr id="6" name="Text 3"/>
          <p:cNvSpPr/>
          <p:nvPr/>
        </p:nvSpPr>
        <p:spPr>
          <a:xfrm>
            <a:off x="2037993" y="3411141"/>
            <a:ext cx="2388632" cy="347186"/>
          </a:xfrm>
          <a:prstGeom prst="rect">
            <a:avLst/>
          </a:prstGeom>
          <a:noFill/>
          <a:ln/>
        </p:spPr>
        <p:txBody>
          <a:bodyPr wrap="none" rtlCol="0" anchor="t"/>
          <a:lstStyle/>
          <a:p>
            <a:pPr marL="0" indent="0" algn="l">
              <a:lnSpc>
                <a:spcPts val="2734"/>
              </a:lnSpc>
              <a:buNone/>
            </a:pPr>
            <a:r>
              <a:rPr lang="en-US" sz="2187" b="1" kern="0" spc="-66" dirty="0">
                <a:solidFill>
                  <a:srgbClr val="272525"/>
                </a:solidFill>
                <a:latin typeface="Inter" pitchFamily="34" charset="0"/>
                <a:ea typeface="Inter" pitchFamily="34" charset="-122"/>
                <a:cs typeface="Inter" pitchFamily="34" charset="-120"/>
              </a:rPr>
              <a:t>Python</a:t>
            </a:r>
            <a:endParaRPr lang="en-US" sz="2187" dirty="0"/>
          </a:p>
        </p:txBody>
      </p:sp>
      <p:sp>
        <p:nvSpPr>
          <p:cNvPr id="7" name="Text 4"/>
          <p:cNvSpPr/>
          <p:nvPr/>
        </p:nvSpPr>
        <p:spPr>
          <a:xfrm>
            <a:off x="2037993" y="3891558"/>
            <a:ext cx="2388632" cy="2487811"/>
          </a:xfrm>
          <a:prstGeom prst="rect">
            <a:avLst/>
          </a:prstGeom>
          <a:noFill/>
          <a:ln/>
        </p:spPr>
        <p:txBody>
          <a:bodyPr wrap="square" rtlCol="0" anchor="t"/>
          <a:lstStyle/>
          <a:p>
            <a:pPr marL="0" indent="0" algn="l">
              <a:lnSpc>
                <a:spcPts val="2799"/>
              </a:lnSpc>
              <a:buNone/>
            </a:pPr>
            <a:r>
              <a:rPr lang="en-US" sz="1750" kern="0" spc="-35" dirty="0">
                <a:solidFill>
                  <a:srgbClr val="272525"/>
                </a:solidFill>
                <a:latin typeface="Inter" pitchFamily="34" charset="0"/>
                <a:ea typeface="Inter" pitchFamily="34" charset="-122"/>
                <a:cs typeface="Inter" pitchFamily="34" charset="-120"/>
              </a:rPr>
              <a:t>El software ha sido desarrollado utilizando el lenguaje de programación Python, conocido por su versatilidad y facilidad de uso.</a:t>
            </a:r>
            <a:endParaRPr lang="en-US" sz="1750" dirty="0"/>
          </a:p>
        </p:txBody>
      </p:sp>
      <p:pic>
        <p:nvPicPr>
          <p:cNvPr id="8" name="Image 1" descr="preencoded.png"/>
          <p:cNvPicPr>
            <a:picLocks noChangeAspect="1"/>
          </p:cNvPicPr>
          <p:nvPr/>
        </p:nvPicPr>
        <p:blipFill>
          <a:blip r:embed="rId4"/>
          <a:stretch>
            <a:fillRect/>
          </a:stretch>
        </p:blipFill>
        <p:spPr>
          <a:xfrm>
            <a:off x="4759881" y="2633543"/>
            <a:ext cx="555427" cy="555427"/>
          </a:xfrm>
          <a:prstGeom prst="rect">
            <a:avLst/>
          </a:prstGeom>
        </p:spPr>
      </p:pic>
      <p:sp>
        <p:nvSpPr>
          <p:cNvPr id="9" name="Text 5"/>
          <p:cNvSpPr/>
          <p:nvPr/>
        </p:nvSpPr>
        <p:spPr>
          <a:xfrm>
            <a:off x="4759881" y="3411141"/>
            <a:ext cx="2388632" cy="347186"/>
          </a:xfrm>
          <a:prstGeom prst="rect">
            <a:avLst/>
          </a:prstGeom>
          <a:noFill/>
          <a:ln/>
        </p:spPr>
        <p:txBody>
          <a:bodyPr wrap="none" rtlCol="0" anchor="t"/>
          <a:lstStyle/>
          <a:p>
            <a:pPr marL="0" indent="0" algn="l">
              <a:lnSpc>
                <a:spcPts val="2734"/>
              </a:lnSpc>
              <a:buNone/>
            </a:pPr>
            <a:r>
              <a:rPr lang="en-US" sz="2187" b="1" kern="0" spc="-66" dirty="0">
                <a:solidFill>
                  <a:srgbClr val="272525"/>
                </a:solidFill>
                <a:latin typeface="Inter" pitchFamily="34" charset="0"/>
                <a:ea typeface="Inter" pitchFamily="34" charset="-122"/>
                <a:cs typeface="Inter" pitchFamily="34" charset="-120"/>
              </a:rPr>
              <a:t>SQLite</a:t>
            </a:r>
            <a:endParaRPr lang="en-US" sz="2187" dirty="0"/>
          </a:p>
        </p:txBody>
      </p:sp>
      <p:sp>
        <p:nvSpPr>
          <p:cNvPr id="10" name="Text 6"/>
          <p:cNvSpPr/>
          <p:nvPr/>
        </p:nvSpPr>
        <p:spPr>
          <a:xfrm>
            <a:off x="4759881" y="3891558"/>
            <a:ext cx="2388632" cy="2132409"/>
          </a:xfrm>
          <a:prstGeom prst="rect">
            <a:avLst/>
          </a:prstGeom>
          <a:noFill/>
          <a:ln/>
        </p:spPr>
        <p:txBody>
          <a:bodyPr wrap="square" rtlCol="0" anchor="t"/>
          <a:lstStyle/>
          <a:p>
            <a:pPr marL="0" indent="0" algn="l">
              <a:lnSpc>
                <a:spcPts val="2799"/>
              </a:lnSpc>
              <a:buNone/>
            </a:pPr>
            <a:r>
              <a:rPr lang="en-US" sz="1750" kern="0" spc="-35" dirty="0">
                <a:solidFill>
                  <a:srgbClr val="272525"/>
                </a:solidFill>
                <a:latin typeface="Inter" pitchFamily="34" charset="0"/>
                <a:ea typeface="Inter" pitchFamily="34" charset="-122"/>
                <a:cs typeface="Inter" pitchFamily="34" charset="-120"/>
              </a:rPr>
              <a:t>La base de datos utilizada es SQLite, una solución confiable y estructurada para el almacenamiento de la información.</a:t>
            </a:r>
            <a:endParaRPr lang="en-US" sz="1750" dirty="0"/>
          </a:p>
        </p:txBody>
      </p:sp>
      <p:pic>
        <p:nvPicPr>
          <p:cNvPr id="11" name="Image 2" descr="preencoded.png"/>
          <p:cNvPicPr>
            <a:picLocks noChangeAspect="1"/>
          </p:cNvPicPr>
          <p:nvPr/>
        </p:nvPicPr>
        <p:blipFill>
          <a:blip r:embed="rId5"/>
          <a:stretch>
            <a:fillRect/>
          </a:stretch>
        </p:blipFill>
        <p:spPr>
          <a:xfrm>
            <a:off x="7481768" y="2633543"/>
            <a:ext cx="555427" cy="555427"/>
          </a:xfrm>
          <a:prstGeom prst="rect">
            <a:avLst/>
          </a:prstGeom>
        </p:spPr>
      </p:pic>
      <p:sp>
        <p:nvSpPr>
          <p:cNvPr id="12" name="Text 7"/>
          <p:cNvSpPr/>
          <p:nvPr/>
        </p:nvSpPr>
        <p:spPr>
          <a:xfrm>
            <a:off x="7481768" y="3411141"/>
            <a:ext cx="2388632" cy="347186"/>
          </a:xfrm>
          <a:prstGeom prst="rect">
            <a:avLst/>
          </a:prstGeom>
          <a:noFill/>
          <a:ln/>
        </p:spPr>
        <p:txBody>
          <a:bodyPr wrap="none" rtlCol="0" anchor="t"/>
          <a:lstStyle/>
          <a:p>
            <a:pPr marL="0" indent="0" algn="l">
              <a:lnSpc>
                <a:spcPts val="2734"/>
              </a:lnSpc>
              <a:buNone/>
            </a:pPr>
            <a:r>
              <a:rPr lang="en-US" sz="2187" b="1" kern="0" spc="-66" dirty="0">
                <a:solidFill>
                  <a:srgbClr val="272525"/>
                </a:solidFill>
                <a:latin typeface="Inter" pitchFamily="34" charset="0"/>
                <a:ea typeface="Inter" pitchFamily="34" charset="-122"/>
                <a:cs typeface="Inter" pitchFamily="34" charset="-120"/>
              </a:rPr>
              <a:t>Tkinter</a:t>
            </a:r>
            <a:endParaRPr lang="en-US" sz="2187" dirty="0"/>
          </a:p>
        </p:txBody>
      </p:sp>
      <p:sp>
        <p:nvSpPr>
          <p:cNvPr id="13" name="Text 8"/>
          <p:cNvSpPr/>
          <p:nvPr/>
        </p:nvSpPr>
        <p:spPr>
          <a:xfrm>
            <a:off x="7481768" y="3891558"/>
            <a:ext cx="2388632" cy="2843213"/>
          </a:xfrm>
          <a:prstGeom prst="rect">
            <a:avLst/>
          </a:prstGeom>
          <a:noFill/>
          <a:ln/>
        </p:spPr>
        <p:txBody>
          <a:bodyPr wrap="square" rtlCol="0" anchor="t"/>
          <a:lstStyle/>
          <a:p>
            <a:pPr marL="0" indent="0" algn="l">
              <a:lnSpc>
                <a:spcPts val="2799"/>
              </a:lnSpc>
              <a:buNone/>
            </a:pPr>
            <a:r>
              <a:rPr lang="en-US" sz="1750" kern="0" spc="-35" dirty="0">
                <a:solidFill>
                  <a:srgbClr val="272525"/>
                </a:solidFill>
                <a:latin typeface="Inter" pitchFamily="34" charset="0"/>
                <a:ea typeface="Inter" pitchFamily="34" charset="-122"/>
                <a:cs typeface="Inter" pitchFamily="34" charset="-120"/>
              </a:rPr>
              <a:t>La interfaz gráfica del software se ha desarrollado utilizando Tkinter, una biblioteca de Python para la creación de aplicaciones de escritorio.</a:t>
            </a:r>
            <a:endParaRPr lang="en-US" sz="1750" dirty="0"/>
          </a:p>
        </p:txBody>
      </p:sp>
      <p:pic>
        <p:nvPicPr>
          <p:cNvPr id="14" name="Image 3" descr="preencoded.png"/>
          <p:cNvPicPr>
            <a:picLocks noChangeAspect="1"/>
          </p:cNvPicPr>
          <p:nvPr/>
        </p:nvPicPr>
        <p:blipFill>
          <a:blip r:embed="rId6"/>
          <a:stretch>
            <a:fillRect/>
          </a:stretch>
        </p:blipFill>
        <p:spPr>
          <a:xfrm>
            <a:off x="10203656" y="2633543"/>
            <a:ext cx="555427" cy="555427"/>
          </a:xfrm>
          <a:prstGeom prst="rect">
            <a:avLst/>
          </a:prstGeom>
        </p:spPr>
      </p:pic>
      <p:sp>
        <p:nvSpPr>
          <p:cNvPr id="15" name="Text 9"/>
          <p:cNvSpPr/>
          <p:nvPr/>
        </p:nvSpPr>
        <p:spPr>
          <a:xfrm>
            <a:off x="10203656" y="3411141"/>
            <a:ext cx="2388751" cy="347186"/>
          </a:xfrm>
          <a:prstGeom prst="rect">
            <a:avLst/>
          </a:prstGeom>
          <a:noFill/>
          <a:ln/>
        </p:spPr>
        <p:txBody>
          <a:bodyPr wrap="none" rtlCol="0" anchor="t"/>
          <a:lstStyle/>
          <a:p>
            <a:pPr marL="0" indent="0" algn="l">
              <a:lnSpc>
                <a:spcPts val="2734"/>
              </a:lnSpc>
              <a:buNone/>
            </a:pPr>
            <a:r>
              <a:rPr lang="en-US" sz="2187" b="1" kern="0" spc="-66" dirty="0">
                <a:solidFill>
                  <a:srgbClr val="272525"/>
                </a:solidFill>
                <a:latin typeface="Inter" pitchFamily="34" charset="0"/>
                <a:ea typeface="Inter" pitchFamily="34" charset="-122"/>
                <a:cs typeface="Inter" pitchFamily="34" charset="-120"/>
              </a:rPr>
              <a:t>FPDF y ReportLab</a:t>
            </a:r>
            <a:endParaRPr lang="en-US" sz="2187" dirty="0"/>
          </a:p>
        </p:txBody>
      </p:sp>
      <p:sp>
        <p:nvSpPr>
          <p:cNvPr id="16" name="Text 10"/>
          <p:cNvSpPr/>
          <p:nvPr/>
        </p:nvSpPr>
        <p:spPr>
          <a:xfrm>
            <a:off x="10203656" y="3891558"/>
            <a:ext cx="2388751" cy="1777008"/>
          </a:xfrm>
          <a:prstGeom prst="rect">
            <a:avLst/>
          </a:prstGeom>
          <a:noFill/>
          <a:ln/>
        </p:spPr>
        <p:txBody>
          <a:bodyPr wrap="square" rtlCol="0" anchor="t"/>
          <a:lstStyle/>
          <a:p>
            <a:pPr marL="0" indent="0" algn="l">
              <a:lnSpc>
                <a:spcPts val="2799"/>
              </a:lnSpc>
              <a:buNone/>
            </a:pPr>
            <a:r>
              <a:rPr lang="en-US" sz="1750" kern="0" spc="-35" dirty="0">
                <a:solidFill>
                  <a:srgbClr val="272525"/>
                </a:solidFill>
                <a:latin typeface="Inter" pitchFamily="34" charset="0"/>
                <a:ea typeface="Inter" pitchFamily="34" charset="-122"/>
                <a:cs typeface="Inter" pitchFamily="34" charset="-120"/>
              </a:rPr>
              <a:t>Estas bibliotecas de Python se utilizan para la generación automática de facturas en formato PDF.</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p:cNvPicPr>
            <a:picLocks noChangeAspect="1"/>
          </p:cNvPicPr>
          <p:nvPr/>
        </p:nvPicPr>
        <p:blipFill>
          <a:blip r:embed="rId3"/>
          <a:stretch>
            <a:fillRect/>
          </a:stretch>
        </p:blipFill>
        <p:spPr>
          <a:xfrm>
            <a:off x="-7620" y="0"/>
            <a:ext cx="3657600" cy="8229600"/>
          </a:xfrm>
          <a:prstGeom prst="rect">
            <a:avLst/>
          </a:prstGeom>
        </p:spPr>
      </p:pic>
      <p:sp>
        <p:nvSpPr>
          <p:cNvPr id="5" name="Text 2"/>
          <p:cNvSpPr/>
          <p:nvPr/>
        </p:nvSpPr>
        <p:spPr>
          <a:xfrm>
            <a:off x="4490799" y="827961"/>
            <a:ext cx="8931593" cy="694373"/>
          </a:xfrm>
          <a:prstGeom prst="rect">
            <a:avLst/>
          </a:prstGeom>
          <a:noFill/>
          <a:ln/>
        </p:spPr>
        <p:txBody>
          <a:bodyPr wrap="none" rtlCol="0" anchor="t"/>
          <a:lstStyle/>
          <a:p>
            <a:pPr marL="0" indent="0">
              <a:lnSpc>
                <a:spcPts val="5468"/>
              </a:lnSpc>
              <a:buNone/>
            </a:pPr>
            <a:r>
              <a:rPr lang="en-US" sz="4374" b="1" kern="0" spc="-131" dirty="0">
                <a:solidFill>
                  <a:srgbClr val="000000"/>
                </a:solidFill>
                <a:latin typeface="Inter" pitchFamily="34" charset="0"/>
                <a:ea typeface="Inter" pitchFamily="34" charset="-122"/>
                <a:cs typeface="Inter" pitchFamily="34" charset="-120"/>
              </a:rPr>
              <a:t>Arquitectura Modular y Flexibilidad</a:t>
            </a:r>
            <a:endParaRPr lang="en-US" sz="4374" dirty="0"/>
          </a:p>
        </p:txBody>
      </p:sp>
      <p:pic>
        <p:nvPicPr>
          <p:cNvPr id="6" name="Image 1" descr="preencoded.png"/>
          <p:cNvPicPr>
            <a:picLocks noChangeAspect="1"/>
          </p:cNvPicPr>
          <p:nvPr/>
        </p:nvPicPr>
        <p:blipFill>
          <a:blip r:embed="rId4"/>
          <a:stretch>
            <a:fillRect/>
          </a:stretch>
        </p:blipFill>
        <p:spPr>
          <a:xfrm>
            <a:off x="4490799" y="1855589"/>
            <a:ext cx="1110972" cy="1777484"/>
          </a:xfrm>
          <a:prstGeom prst="rect">
            <a:avLst/>
          </a:prstGeom>
        </p:spPr>
      </p:pic>
      <p:sp>
        <p:nvSpPr>
          <p:cNvPr id="7" name="Text 3"/>
          <p:cNvSpPr/>
          <p:nvPr/>
        </p:nvSpPr>
        <p:spPr>
          <a:xfrm>
            <a:off x="5935028" y="2077760"/>
            <a:ext cx="2777490" cy="347186"/>
          </a:xfrm>
          <a:prstGeom prst="rect">
            <a:avLst/>
          </a:prstGeom>
          <a:noFill/>
          <a:ln/>
        </p:spPr>
        <p:txBody>
          <a:bodyPr wrap="none" rtlCol="0" anchor="t"/>
          <a:lstStyle/>
          <a:p>
            <a:pPr marL="0" indent="0" algn="l">
              <a:lnSpc>
                <a:spcPts val="2734"/>
              </a:lnSpc>
              <a:buNone/>
            </a:pPr>
            <a:r>
              <a:rPr lang="en-US" sz="2187" b="1" kern="0" spc="-66" dirty="0">
                <a:solidFill>
                  <a:srgbClr val="272525"/>
                </a:solidFill>
                <a:latin typeface="Inter" pitchFamily="34" charset="0"/>
                <a:ea typeface="Inter" pitchFamily="34" charset="-122"/>
                <a:cs typeface="Inter" pitchFamily="34" charset="-120"/>
              </a:rPr>
              <a:t>Estructura Modular</a:t>
            </a:r>
            <a:endParaRPr lang="en-US" sz="2187" dirty="0"/>
          </a:p>
        </p:txBody>
      </p:sp>
      <p:sp>
        <p:nvSpPr>
          <p:cNvPr id="8" name="Text 4"/>
          <p:cNvSpPr/>
          <p:nvPr/>
        </p:nvSpPr>
        <p:spPr>
          <a:xfrm>
            <a:off x="5935028" y="2558177"/>
            <a:ext cx="7862173" cy="710803"/>
          </a:xfrm>
          <a:prstGeom prst="rect">
            <a:avLst/>
          </a:prstGeom>
          <a:noFill/>
          <a:ln/>
        </p:spPr>
        <p:txBody>
          <a:bodyPr wrap="square" rtlCol="0" anchor="t"/>
          <a:lstStyle/>
          <a:p>
            <a:pPr marL="0" indent="0" algn="l">
              <a:lnSpc>
                <a:spcPts val="2799"/>
              </a:lnSpc>
              <a:buNone/>
            </a:pPr>
            <a:r>
              <a:rPr lang="en-US" sz="1750" kern="0" spc="-35" dirty="0">
                <a:solidFill>
                  <a:srgbClr val="272525"/>
                </a:solidFill>
                <a:latin typeface="Inter" pitchFamily="34" charset="0"/>
                <a:ea typeface="Inter" pitchFamily="34" charset="-122"/>
                <a:cs typeface="Inter" pitchFamily="34" charset="-120"/>
              </a:rPr>
              <a:t>El software se ha diseñado utilizando una estructura modular que permite una fácil gestión y mantenimiento de cada componente.</a:t>
            </a:r>
            <a:endParaRPr lang="en-US" sz="1750" dirty="0"/>
          </a:p>
        </p:txBody>
      </p:sp>
      <p:pic>
        <p:nvPicPr>
          <p:cNvPr id="9" name="Image 2" descr="preencoded.png"/>
          <p:cNvPicPr>
            <a:picLocks noChangeAspect="1"/>
          </p:cNvPicPr>
          <p:nvPr/>
        </p:nvPicPr>
        <p:blipFill>
          <a:blip r:embed="rId5"/>
          <a:stretch>
            <a:fillRect/>
          </a:stretch>
        </p:blipFill>
        <p:spPr>
          <a:xfrm>
            <a:off x="4490799" y="3633073"/>
            <a:ext cx="1110972" cy="1777484"/>
          </a:xfrm>
          <a:prstGeom prst="rect">
            <a:avLst/>
          </a:prstGeom>
        </p:spPr>
      </p:pic>
      <p:sp>
        <p:nvSpPr>
          <p:cNvPr id="10" name="Text 5"/>
          <p:cNvSpPr/>
          <p:nvPr/>
        </p:nvSpPr>
        <p:spPr>
          <a:xfrm>
            <a:off x="5935028" y="3855244"/>
            <a:ext cx="3515201" cy="347186"/>
          </a:xfrm>
          <a:prstGeom prst="rect">
            <a:avLst/>
          </a:prstGeom>
          <a:noFill/>
          <a:ln/>
        </p:spPr>
        <p:txBody>
          <a:bodyPr wrap="none" rtlCol="0" anchor="t"/>
          <a:lstStyle/>
          <a:p>
            <a:pPr marL="0" indent="0" algn="l">
              <a:lnSpc>
                <a:spcPts val="2734"/>
              </a:lnSpc>
              <a:buNone/>
            </a:pPr>
            <a:r>
              <a:rPr lang="en-US" sz="2187" b="1" kern="0" spc="-66" dirty="0">
                <a:solidFill>
                  <a:srgbClr val="272525"/>
                </a:solidFill>
                <a:latin typeface="Inter" pitchFamily="34" charset="0"/>
                <a:ea typeface="Inter" pitchFamily="34" charset="-122"/>
                <a:cs typeface="Inter" pitchFamily="34" charset="-120"/>
              </a:rPr>
              <a:t>Base de Datos Centralizada</a:t>
            </a:r>
            <a:endParaRPr lang="en-US" sz="2187" dirty="0"/>
          </a:p>
        </p:txBody>
      </p:sp>
      <p:sp>
        <p:nvSpPr>
          <p:cNvPr id="11" name="Text 6"/>
          <p:cNvSpPr/>
          <p:nvPr/>
        </p:nvSpPr>
        <p:spPr>
          <a:xfrm>
            <a:off x="5935028" y="4335661"/>
            <a:ext cx="7862173" cy="710803"/>
          </a:xfrm>
          <a:prstGeom prst="rect">
            <a:avLst/>
          </a:prstGeom>
          <a:noFill/>
          <a:ln/>
        </p:spPr>
        <p:txBody>
          <a:bodyPr wrap="square" rtlCol="0" anchor="t"/>
          <a:lstStyle/>
          <a:p>
            <a:pPr marL="0" indent="0" algn="l">
              <a:lnSpc>
                <a:spcPts val="2799"/>
              </a:lnSpc>
              <a:buNone/>
            </a:pPr>
            <a:r>
              <a:rPr lang="en-US" sz="1750" kern="0" spc="-35" dirty="0">
                <a:solidFill>
                  <a:srgbClr val="272525"/>
                </a:solidFill>
                <a:latin typeface="Inter" pitchFamily="34" charset="0"/>
                <a:ea typeface="Inter" pitchFamily="34" charset="-122"/>
                <a:cs typeface="Inter" pitchFamily="34" charset="-120"/>
              </a:rPr>
              <a:t>La base de datos centralizada en SQLite ofrece un almacenamiento confiable y estructurado para la información del taller.</a:t>
            </a:r>
            <a:endParaRPr lang="en-US" sz="1750" dirty="0"/>
          </a:p>
        </p:txBody>
      </p:sp>
      <p:pic>
        <p:nvPicPr>
          <p:cNvPr id="12" name="Image 3" descr="preencoded.png"/>
          <p:cNvPicPr>
            <a:picLocks noChangeAspect="1"/>
          </p:cNvPicPr>
          <p:nvPr/>
        </p:nvPicPr>
        <p:blipFill>
          <a:blip r:embed="rId6"/>
          <a:stretch>
            <a:fillRect/>
          </a:stretch>
        </p:blipFill>
        <p:spPr>
          <a:xfrm>
            <a:off x="4490799" y="5410557"/>
            <a:ext cx="1110972" cy="1990963"/>
          </a:xfrm>
          <a:prstGeom prst="rect">
            <a:avLst/>
          </a:prstGeom>
        </p:spPr>
      </p:pic>
      <p:sp>
        <p:nvSpPr>
          <p:cNvPr id="13" name="Text 7"/>
          <p:cNvSpPr/>
          <p:nvPr/>
        </p:nvSpPr>
        <p:spPr>
          <a:xfrm>
            <a:off x="5935028" y="5632728"/>
            <a:ext cx="4013478" cy="347186"/>
          </a:xfrm>
          <a:prstGeom prst="rect">
            <a:avLst/>
          </a:prstGeom>
          <a:noFill/>
          <a:ln/>
        </p:spPr>
        <p:txBody>
          <a:bodyPr wrap="none" rtlCol="0" anchor="t"/>
          <a:lstStyle/>
          <a:p>
            <a:pPr marL="0" indent="0" algn="l">
              <a:lnSpc>
                <a:spcPts val="2734"/>
              </a:lnSpc>
              <a:buNone/>
            </a:pPr>
            <a:r>
              <a:rPr lang="en-US" sz="2187" b="1" kern="0" spc="-66" dirty="0">
                <a:solidFill>
                  <a:srgbClr val="272525"/>
                </a:solidFill>
                <a:latin typeface="Inter" pitchFamily="34" charset="0"/>
                <a:ea typeface="Inter" pitchFamily="34" charset="-122"/>
                <a:cs typeface="Inter" pitchFamily="34" charset="-120"/>
              </a:rPr>
              <a:t>Integración con Otros Sistemas</a:t>
            </a:r>
            <a:endParaRPr lang="en-US" sz="2187" dirty="0"/>
          </a:p>
        </p:txBody>
      </p:sp>
      <p:sp>
        <p:nvSpPr>
          <p:cNvPr id="14" name="Text 8"/>
          <p:cNvSpPr/>
          <p:nvPr/>
        </p:nvSpPr>
        <p:spPr>
          <a:xfrm>
            <a:off x="5935028" y="6113145"/>
            <a:ext cx="7862173" cy="1066205"/>
          </a:xfrm>
          <a:prstGeom prst="rect">
            <a:avLst/>
          </a:prstGeom>
          <a:noFill/>
          <a:ln/>
        </p:spPr>
        <p:txBody>
          <a:bodyPr wrap="square" rtlCol="0" anchor="t"/>
          <a:lstStyle/>
          <a:p>
            <a:pPr marL="0" indent="0" algn="l">
              <a:lnSpc>
                <a:spcPts val="2799"/>
              </a:lnSpc>
              <a:buNone/>
            </a:pPr>
            <a:r>
              <a:rPr lang="en-US" sz="1750" kern="0" spc="-35" dirty="0">
                <a:solidFill>
                  <a:srgbClr val="272525"/>
                </a:solidFill>
                <a:latin typeface="Inter" pitchFamily="34" charset="0"/>
                <a:ea typeface="Inter" pitchFamily="34" charset="-122"/>
                <a:cs typeface="Inter" pitchFamily="34" charset="-120"/>
              </a:rPr>
              <a:t>La arquitectura modular permite una integración sin problemas con otros sistemas y futuras mejoras, gracias a las APIs estándar y la flexibilidad de la estructura.</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762</Words>
  <Application>Microsoft Office PowerPoint</Application>
  <PresentationFormat>Personalizado</PresentationFormat>
  <Paragraphs>67</Paragraphs>
  <Slides>8</Slides>
  <Notes>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8</vt:i4>
      </vt:variant>
    </vt:vector>
  </HeadingPairs>
  <TitlesOfParts>
    <vt:vector size="11" baseType="lpstr">
      <vt:lpstr>Arial</vt:lpstr>
      <vt:lpstr>Inter</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Jose Isidro Garcia</cp:lastModifiedBy>
  <cp:revision>2</cp:revision>
  <dcterms:created xsi:type="dcterms:W3CDTF">2024-05-08T07:07:16Z</dcterms:created>
  <dcterms:modified xsi:type="dcterms:W3CDTF">2024-05-08T07:17:12Z</dcterms:modified>
</cp:coreProperties>
</file>